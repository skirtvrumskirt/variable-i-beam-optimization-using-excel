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0"/>
  </p:notesMasterIdLst>
  <p:handoutMasterIdLst>
    <p:handoutMasterId r:id="rId41"/>
  </p:handoutMasterIdLst>
  <p:sldIdLst>
    <p:sldId id="335" r:id="rId5"/>
    <p:sldId id="336" r:id="rId6"/>
    <p:sldId id="339" r:id="rId7"/>
    <p:sldId id="348" r:id="rId8"/>
    <p:sldId id="349" r:id="rId9"/>
    <p:sldId id="340" r:id="rId10"/>
    <p:sldId id="342" r:id="rId11"/>
    <p:sldId id="341" r:id="rId12"/>
    <p:sldId id="350" r:id="rId13"/>
    <p:sldId id="351" r:id="rId14"/>
    <p:sldId id="352" r:id="rId15"/>
    <p:sldId id="353" r:id="rId16"/>
    <p:sldId id="354" r:id="rId17"/>
    <p:sldId id="355" r:id="rId18"/>
    <p:sldId id="356" r:id="rId19"/>
    <p:sldId id="357" r:id="rId20"/>
    <p:sldId id="358" r:id="rId21"/>
    <p:sldId id="359" r:id="rId22"/>
    <p:sldId id="360" r:id="rId23"/>
    <p:sldId id="362" r:id="rId24"/>
    <p:sldId id="361" r:id="rId25"/>
    <p:sldId id="363" r:id="rId26"/>
    <p:sldId id="364" r:id="rId27"/>
    <p:sldId id="365" r:id="rId28"/>
    <p:sldId id="366" r:id="rId29"/>
    <p:sldId id="367" r:id="rId30"/>
    <p:sldId id="368" r:id="rId31"/>
    <p:sldId id="378" r:id="rId32"/>
    <p:sldId id="369" r:id="rId33"/>
    <p:sldId id="372" r:id="rId34"/>
    <p:sldId id="373" r:id="rId35"/>
    <p:sldId id="379" r:id="rId36"/>
    <p:sldId id="370" r:id="rId37"/>
    <p:sldId id="371" r:id="rId38"/>
    <p:sldId id="34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94" autoAdjust="0"/>
  </p:normalViewPr>
  <p:slideViewPr>
    <p:cSldViewPr snapToGrid="0">
      <p:cViewPr varScale="1">
        <p:scale>
          <a:sx n="105" d="100"/>
          <a:sy n="105" d="100"/>
        </p:scale>
        <p:origin x="834" y="114"/>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7/11/2026</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7/11/2026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6071616" y="960120"/>
            <a:ext cx="5221224" cy="3056343"/>
          </a:xfrm>
        </p:spPr>
        <p:txBody>
          <a:bodyPr/>
          <a:lstStyle/>
          <a:p>
            <a:r>
              <a:rPr lang="en-US" dirty="0"/>
              <a:t>EGR-228</a:t>
            </a:r>
            <a:br>
              <a:rPr lang="en-US" dirty="0"/>
            </a:br>
            <a:r>
              <a:rPr lang="en-US" dirty="0"/>
              <a:t>Final project</a:t>
            </a:r>
          </a:p>
        </p:txBody>
      </p:sp>
      <p:sp>
        <p:nvSpPr>
          <p:cNvPr id="2" name="TextBox 1">
            <a:extLst>
              <a:ext uri="{FF2B5EF4-FFF2-40B4-BE49-F238E27FC236}">
                <a16:creationId xmlns:a16="http://schemas.microsoft.com/office/drawing/2014/main" id="{4D3B2BF0-9B02-C59C-D554-071C81E6F4AE}"/>
              </a:ext>
            </a:extLst>
          </p:cNvPr>
          <p:cNvSpPr txBox="1"/>
          <p:nvPr/>
        </p:nvSpPr>
        <p:spPr>
          <a:xfrm>
            <a:off x="6096000" y="4016463"/>
            <a:ext cx="3273012" cy="523220"/>
          </a:xfrm>
          <a:prstGeom prst="rect">
            <a:avLst/>
          </a:prstGeom>
          <a:noFill/>
        </p:spPr>
        <p:txBody>
          <a:bodyPr wrap="none" rtlCol="0">
            <a:spAutoFit/>
          </a:bodyPr>
          <a:lstStyle/>
          <a:p>
            <a:r>
              <a:rPr lang="en-US" sz="2800" dirty="0"/>
              <a:t>Cantilevered Beam</a:t>
            </a:r>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893064" y="72518"/>
            <a:ext cx="8297380" cy="1326514"/>
          </a:xfrm>
        </p:spPr>
        <p:txBody>
          <a:bodyPr/>
          <a:lstStyle/>
          <a:p>
            <a:r>
              <a:rPr lang="en-US" dirty="0"/>
              <a:t>Agenda </a:t>
            </a:r>
          </a:p>
        </p:txBody>
      </p:sp>
      <p:sp>
        <p:nvSpPr>
          <p:cNvPr id="7" name="Text Placeholder 6">
            <a:extLst>
              <a:ext uri="{FF2B5EF4-FFF2-40B4-BE49-F238E27FC236}">
                <a16:creationId xmlns:a16="http://schemas.microsoft.com/office/drawing/2014/main" id="{70B4EC43-20C2-1DA5-646B-B8D26CF7D003}"/>
              </a:ext>
            </a:extLst>
          </p:cNvPr>
          <p:cNvSpPr>
            <a:spLocks noGrp="1"/>
          </p:cNvSpPr>
          <p:nvPr>
            <p:ph type="body" sz="quarter" idx="13"/>
          </p:nvPr>
        </p:nvSpPr>
        <p:spPr>
          <a:xfrm>
            <a:off x="865631" y="2072640"/>
            <a:ext cx="8324089" cy="3493008"/>
          </a:xfrm>
        </p:spPr>
        <p:txBody>
          <a:bodyPr/>
          <a:lstStyle/>
          <a:p>
            <a:r>
              <a:rPr lang="en-US" dirty="0"/>
              <a:t>Free Body Diagram</a:t>
            </a:r>
          </a:p>
          <a:p>
            <a:r>
              <a:rPr lang="en-US" dirty="0"/>
              <a:t>Shear and Moment Diagram</a:t>
            </a:r>
          </a:p>
          <a:p>
            <a:r>
              <a:rPr lang="en-US" dirty="0"/>
              <a:t>Solid Constant Beam</a:t>
            </a:r>
          </a:p>
          <a:p>
            <a:r>
              <a:rPr lang="en-US" dirty="0"/>
              <a:t>Hollow Constant Beam</a:t>
            </a:r>
          </a:p>
          <a:p>
            <a:r>
              <a:rPr lang="en-US" dirty="0"/>
              <a:t>Varied Beam</a:t>
            </a:r>
          </a:p>
          <a:p>
            <a:r>
              <a:rPr lang="en-US" dirty="0"/>
              <a:t>Summary</a:t>
            </a:r>
          </a:p>
          <a:p>
            <a:pPr marL="0" indent="0">
              <a:buNone/>
            </a:pPr>
            <a:endParaRPr lang="en-US" dirty="0"/>
          </a:p>
          <a:p>
            <a:endParaRPr lang="en-US" dirty="0"/>
          </a:p>
        </p:txBody>
      </p:sp>
      <p:sp>
        <p:nvSpPr>
          <p:cNvPr id="3" name="Slide Number Placeholder 2">
            <a:extLst>
              <a:ext uri="{FF2B5EF4-FFF2-40B4-BE49-F238E27FC236}">
                <a16:creationId xmlns:a16="http://schemas.microsoft.com/office/drawing/2014/main" id="{089920E1-1F47-D3FB-B5CD-7110B3795525}"/>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582749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45BD-5B25-B32E-F712-18F18E7168E7}"/>
              </a:ext>
            </a:extLst>
          </p:cNvPr>
          <p:cNvSpPr>
            <a:spLocks noGrp="1"/>
          </p:cNvSpPr>
          <p:nvPr>
            <p:ph type="title"/>
          </p:nvPr>
        </p:nvSpPr>
        <p:spPr>
          <a:xfrm>
            <a:off x="893064" y="72518"/>
            <a:ext cx="8297380" cy="1326514"/>
          </a:xfrm>
        </p:spPr>
        <p:txBody>
          <a:bodyPr/>
          <a:lstStyle/>
          <a:p>
            <a:r>
              <a:rPr lang="en-US" dirty="0"/>
              <a:t>Free body diagram</a:t>
            </a:r>
            <a:endParaRPr lang="en-ZA" dirty="0"/>
          </a:p>
        </p:txBody>
      </p:sp>
      <p:sp>
        <p:nvSpPr>
          <p:cNvPr id="3" name="Slide Number Placeholder 2">
            <a:extLst>
              <a:ext uri="{FF2B5EF4-FFF2-40B4-BE49-F238E27FC236}">
                <a16:creationId xmlns:a16="http://schemas.microsoft.com/office/drawing/2014/main" id="{95D7C9F2-EB2A-D57B-0D06-69B87C19A3A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3</a:t>
            </a:fld>
            <a:endParaRPr lang="en-US" dirty="0"/>
          </a:p>
        </p:txBody>
      </p:sp>
      <p:pic>
        <p:nvPicPr>
          <p:cNvPr id="8" name="Picture 7">
            <a:extLst>
              <a:ext uri="{FF2B5EF4-FFF2-40B4-BE49-F238E27FC236}">
                <a16:creationId xmlns:a16="http://schemas.microsoft.com/office/drawing/2014/main" id="{2D82E881-044C-F508-7693-7FA1287D4D6A}"/>
              </a:ext>
            </a:extLst>
          </p:cNvPr>
          <p:cNvPicPr>
            <a:picLocks noChangeAspect="1"/>
          </p:cNvPicPr>
          <p:nvPr/>
        </p:nvPicPr>
        <p:blipFill>
          <a:blip r:embed="rId2"/>
          <a:stretch>
            <a:fillRect/>
          </a:stretch>
        </p:blipFill>
        <p:spPr>
          <a:xfrm>
            <a:off x="700821" y="2966876"/>
            <a:ext cx="4340933" cy="3152522"/>
          </a:xfrm>
          <a:prstGeom prst="rect">
            <a:avLst/>
          </a:prstGeom>
        </p:spPr>
      </p:pic>
      <p:pic>
        <p:nvPicPr>
          <p:cNvPr id="10" name="Picture 9">
            <a:extLst>
              <a:ext uri="{FF2B5EF4-FFF2-40B4-BE49-F238E27FC236}">
                <a16:creationId xmlns:a16="http://schemas.microsoft.com/office/drawing/2014/main" id="{E755A771-A6B6-DDC9-0BB2-FE9576D50ADA}"/>
              </a:ext>
            </a:extLst>
          </p:cNvPr>
          <p:cNvPicPr>
            <a:picLocks noChangeAspect="1"/>
          </p:cNvPicPr>
          <p:nvPr/>
        </p:nvPicPr>
        <p:blipFill>
          <a:blip r:embed="rId3"/>
          <a:stretch>
            <a:fillRect/>
          </a:stretch>
        </p:blipFill>
        <p:spPr>
          <a:xfrm>
            <a:off x="5355281" y="2828630"/>
            <a:ext cx="3950733" cy="3600554"/>
          </a:xfrm>
          <a:prstGeom prst="rect">
            <a:avLst/>
          </a:prstGeom>
        </p:spPr>
      </p:pic>
      <p:sp>
        <p:nvSpPr>
          <p:cNvPr id="11" name="Content Placeholder 8">
            <a:extLst>
              <a:ext uri="{FF2B5EF4-FFF2-40B4-BE49-F238E27FC236}">
                <a16:creationId xmlns:a16="http://schemas.microsoft.com/office/drawing/2014/main" id="{E5FCFAF9-C58A-6BAC-8124-584C89C749AF}"/>
              </a:ext>
            </a:extLst>
          </p:cNvPr>
          <p:cNvSpPr txBox="1">
            <a:spLocks/>
          </p:cNvSpPr>
          <p:nvPr/>
        </p:nvSpPr>
        <p:spPr>
          <a:xfrm>
            <a:off x="1792223" y="1903872"/>
            <a:ext cx="7283757" cy="55816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Integrating the distributed forces gives the total forces, which gives the ability to find the force and moment reactions: </a:t>
            </a:r>
          </a:p>
        </p:txBody>
      </p:sp>
    </p:spTree>
    <p:extLst>
      <p:ext uri="{BB962C8B-B14F-4D97-AF65-F5344CB8AC3E}">
        <p14:creationId xmlns:p14="http://schemas.microsoft.com/office/powerpoint/2010/main" val="2099008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75BA-E37D-7B66-479A-F6A1F492B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4ED2D7-C5CD-512C-D058-70B8B3EB808C}"/>
              </a:ext>
            </a:extLst>
          </p:cNvPr>
          <p:cNvSpPr>
            <a:spLocks noGrp="1"/>
          </p:cNvSpPr>
          <p:nvPr>
            <p:ph type="title"/>
          </p:nvPr>
        </p:nvSpPr>
        <p:spPr>
          <a:xfrm>
            <a:off x="893064" y="72518"/>
            <a:ext cx="8297380" cy="1326514"/>
          </a:xfrm>
        </p:spPr>
        <p:txBody>
          <a:bodyPr/>
          <a:lstStyle/>
          <a:p>
            <a:r>
              <a:rPr lang="en-US" dirty="0"/>
              <a:t>Shear diagram</a:t>
            </a:r>
            <a:endParaRPr lang="en-ZA" dirty="0"/>
          </a:p>
        </p:txBody>
      </p:sp>
      <p:sp>
        <p:nvSpPr>
          <p:cNvPr id="3" name="Slide Number Placeholder 2">
            <a:extLst>
              <a:ext uri="{FF2B5EF4-FFF2-40B4-BE49-F238E27FC236}">
                <a16:creationId xmlns:a16="http://schemas.microsoft.com/office/drawing/2014/main" id="{9CC9FF62-8228-2BAE-9814-3F3DC79A663C}"/>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4</a:t>
            </a:fld>
            <a:endParaRPr lang="en-US" dirty="0"/>
          </a:p>
        </p:txBody>
      </p:sp>
      <p:pic>
        <p:nvPicPr>
          <p:cNvPr id="5" name="Picture 4">
            <a:extLst>
              <a:ext uri="{FF2B5EF4-FFF2-40B4-BE49-F238E27FC236}">
                <a16:creationId xmlns:a16="http://schemas.microsoft.com/office/drawing/2014/main" id="{FA7D8C02-AF35-1081-7049-E3FACDAEC477}"/>
              </a:ext>
            </a:extLst>
          </p:cNvPr>
          <p:cNvPicPr>
            <a:picLocks noChangeAspect="1"/>
          </p:cNvPicPr>
          <p:nvPr/>
        </p:nvPicPr>
        <p:blipFill>
          <a:blip r:embed="rId2"/>
          <a:stretch>
            <a:fillRect/>
          </a:stretch>
        </p:blipFill>
        <p:spPr>
          <a:xfrm>
            <a:off x="638115" y="1647981"/>
            <a:ext cx="7673420" cy="4163239"/>
          </a:xfrm>
          <a:prstGeom prst="rect">
            <a:avLst/>
          </a:prstGeom>
        </p:spPr>
      </p:pic>
      <p:sp>
        <p:nvSpPr>
          <p:cNvPr id="6" name="TextBox 5">
            <a:extLst>
              <a:ext uri="{FF2B5EF4-FFF2-40B4-BE49-F238E27FC236}">
                <a16:creationId xmlns:a16="http://schemas.microsoft.com/office/drawing/2014/main" id="{E5AD620F-0D52-24A4-D4B6-8931E1388F68}"/>
              </a:ext>
            </a:extLst>
          </p:cNvPr>
          <p:cNvSpPr txBox="1"/>
          <p:nvPr/>
        </p:nvSpPr>
        <p:spPr>
          <a:xfrm>
            <a:off x="506420" y="3429000"/>
            <a:ext cx="386644" cy="369332"/>
          </a:xfrm>
          <a:prstGeom prst="rect">
            <a:avLst/>
          </a:prstGeom>
          <a:noFill/>
        </p:spPr>
        <p:txBody>
          <a:bodyPr wrap="none" rtlCol="0">
            <a:spAutoFit/>
          </a:bodyPr>
          <a:lstStyle/>
          <a:p>
            <a:r>
              <a:rPr lang="en-US" dirty="0"/>
              <a:t>lb</a:t>
            </a:r>
          </a:p>
        </p:txBody>
      </p:sp>
      <p:sp>
        <p:nvSpPr>
          <p:cNvPr id="7" name="TextBox 6">
            <a:extLst>
              <a:ext uri="{FF2B5EF4-FFF2-40B4-BE49-F238E27FC236}">
                <a16:creationId xmlns:a16="http://schemas.microsoft.com/office/drawing/2014/main" id="{20C8EF07-6DC3-4E86-418D-45C63D0F6938}"/>
              </a:ext>
            </a:extLst>
          </p:cNvPr>
          <p:cNvSpPr txBox="1"/>
          <p:nvPr/>
        </p:nvSpPr>
        <p:spPr>
          <a:xfrm>
            <a:off x="2159208" y="5784063"/>
            <a:ext cx="512063" cy="369332"/>
          </a:xfrm>
          <a:prstGeom prst="rect">
            <a:avLst/>
          </a:prstGeom>
          <a:noFill/>
        </p:spPr>
        <p:txBody>
          <a:bodyPr wrap="none" rtlCol="0">
            <a:spAutoFit/>
          </a:bodyPr>
          <a:lstStyle/>
          <a:p>
            <a:r>
              <a:rPr lang="en-US" dirty="0"/>
              <a:t>5 ft</a:t>
            </a:r>
          </a:p>
        </p:txBody>
      </p:sp>
      <p:sp>
        <p:nvSpPr>
          <p:cNvPr id="9" name="TextBox 8">
            <a:extLst>
              <a:ext uri="{FF2B5EF4-FFF2-40B4-BE49-F238E27FC236}">
                <a16:creationId xmlns:a16="http://schemas.microsoft.com/office/drawing/2014/main" id="{31DEF285-9C07-C1E8-D37E-86328A242E86}"/>
              </a:ext>
            </a:extLst>
          </p:cNvPr>
          <p:cNvSpPr txBox="1"/>
          <p:nvPr/>
        </p:nvSpPr>
        <p:spPr>
          <a:xfrm>
            <a:off x="3983086" y="5781535"/>
            <a:ext cx="512063" cy="369332"/>
          </a:xfrm>
          <a:prstGeom prst="rect">
            <a:avLst/>
          </a:prstGeom>
          <a:noFill/>
        </p:spPr>
        <p:txBody>
          <a:bodyPr wrap="none" rtlCol="0">
            <a:spAutoFit/>
          </a:bodyPr>
          <a:lstStyle/>
          <a:p>
            <a:r>
              <a:rPr lang="en-US" dirty="0"/>
              <a:t>8 ft</a:t>
            </a:r>
          </a:p>
        </p:txBody>
      </p:sp>
      <p:sp>
        <p:nvSpPr>
          <p:cNvPr id="11" name="TextBox 10">
            <a:extLst>
              <a:ext uri="{FF2B5EF4-FFF2-40B4-BE49-F238E27FC236}">
                <a16:creationId xmlns:a16="http://schemas.microsoft.com/office/drawing/2014/main" id="{1F981B85-DFBE-7E53-09E1-B0109BF81FD3}"/>
              </a:ext>
            </a:extLst>
          </p:cNvPr>
          <p:cNvSpPr txBox="1"/>
          <p:nvPr/>
        </p:nvSpPr>
        <p:spPr>
          <a:xfrm>
            <a:off x="5241313" y="5796378"/>
            <a:ext cx="512063" cy="369332"/>
          </a:xfrm>
          <a:prstGeom prst="rect">
            <a:avLst/>
          </a:prstGeom>
          <a:noFill/>
        </p:spPr>
        <p:txBody>
          <a:bodyPr wrap="none" rtlCol="0">
            <a:spAutoFit/>
          </a:bodyPr>
          <a:lstStyle/>
          <a:p>
            <a:r>
              <a:rPr lang="en-US" dirty="0"/>
              <a:t>1 ft</a:t>
            </a:r>
          </a:p>
        </p:txBody>
      </p:sp>
      <p:sp>
        <p:nvSpPr>
          <p:cNvPr id="12" name="TextBox 11">
            <a:extLst>
              <a:ext uri="{FF2B5EF4-FFF2-40B4-BE49-F238E27FC236}">
                <a16:creationId xmlns:a16="http://schemas.microsoft.com/office/drawing/2014/main" id="{4CD7CBF6-E351-83E2-FF0B-1DBFC6686BEB}"/>
              </a:ext>
            </a:extLst>
          </p:cNvPr>
          <p:cNvSpPr txBox="1"/>
          <p:nvPr/>
        </p:nvSpPr>
        <p:spPr>
          <a:xfrm>
            <a:off x="6384291" y="5811220"/>
            <a:ext cx="512063" cy="369332"/>
          </a:xfrm>
          <a:prstGeom prst="rect">
            <a:avLst/>
          </a:prstGeom>
          <a:noFill/>
        </p:spPr>
        <p:txBody>
          <a:bodyPr wrap="none" rtlCol="0">
            <a:spAutoFit/>
          </a:bodyPr>
          <a:lstStyle/>
          <a:p>
            <a:r>
              <a:rPr lang="en-US" dirty="0"/>
              <a:t>6 ft</a:t>
            </a:r>
          </a:p>
        </p:txBody>
      </p:sp>
      <p:sp>
        <p:nvSpPr>
          <p:cNvPr id="13" name="Left Brace 12">
            <a:extLst>
              <a:ext uri="{FF2B5EF4-FFF2-40B4-BE49-F238E27FC236}">
                <a16:creationId xmlns:a16="http://schemas.microsoft.com/office/drawing/2014/main" id="{FE71D96A-FBCA-7F8A-020E-7FF4C065B297}"/>
              </a:ext>
            </a:extLst>
          </p:cNvPr>
          <p:cNvSpPr/>
          <p:nvPr/>
        </p:nvSpPr>
        <p:spPr>
          <a:xfrm rot="16200000">
            <a:off x="2375852" y="4924370"/>
            <a:ext cx="157509" cy="154752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Left Brace 13">
            <a:extLst>
              <a:ext uri="{FF2B5EF4-FFF2-40B4-BE49-F238E27FC236}">
                <a16:creationId xmlns:a16="http://schemas.microsoft.com/office/drawing/2014/main" id="{B6EAF2DC-654D-9597-A4CA-1CFD4ED9F338}"/>
              </a:ext>
            </a:extLst>
          </p:cNvPr>
          <p:cNvSpPr/>
          <p:nvPr/>
        </p:nvSpPr>
        <p:spPr>
          <a:xfrm rot="16200000">
            <a:off x="4201073" y="4709063"/>
            <a:ext cx="93415" cy="195555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Left Brace 15">
            <a:extLst>
              <a:ext uri="{FF2B5EF4-FFF2-40B4-BE49-F238E27FC236}">
                <a16:creationId xmlns:a16="http://schemas.microsoft.com/office/drawing/2014/main" id="{8A6B678B-0E7F-65A9-FC03-7F0E4FDE7F84}"/>
              </a:ext>
            </a:extLst>
          </p:cNvPr>
          <p:cNvSpPr/>
          <p:nvPr/>
        </p:nvSpPr>
        <p:spPr>
          <a:xfrm rot="16200000">
            <a:off x="5450638" y="5444298"/>
            <a:ext cx="93415" cy="48508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e 16">
            <a:extLst>
              <a:ext uri="{FF2B5EF4-FFF2-40B4-BE49-F238E27FC236}">
                <a16:creationId xmlns:a16="http://schemas.microsoft.com/office/drawing/2014/main" id="{59FCE185-7565-D355-2F08-0AD58964F867}"/>
              </a:ext>
            </a:extLst>
          </p:cNvPr>
          <p:cNvSpPr/>
          <p:nvPr/>
        </p:nvSpPr>
        <p:spPr>
          <a:xfrm rot="16200000">
            <a:off x="6444074" y="4922425"/>
            <a:ext cx="134616" cy="15886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ectangle 20">
            <a:extLst>
              <a:ext uri="{FF2B5EF4-FFF2-40B4-BE49-F238E27FC236}">
                <a16:creationId xmlns:a16="http://schemas.microsoft.com/office/drawing/2014/main" id="{747CCC28-4AF8-F614-7F4C-FCF17B9A8F13}"/>
              </a:ext>
            </a:extLst>
          </p:cNvPr>
          <p:cNvSpPr/>
          <p:nvPr/>
        </p:nvSpPr>
        <p:spPr>
          <a:xfrm>
            <a:off x="5041754" y="1965960"/>
            <a:ext cx="2986678" cy="23134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8">
            <a:extLst>
              <a:ext uri="{FF2B5EF4-FFF2-40B4-BE49-F238E27FC236}">
                <a16:creationId xmlns:a16="http://schemas.microsoft.com/office/drawing/2014/main" id="{5BE8099B-E9ED-E909-6FFF-89522D0057E9}"/>
              </a:ext>
            </a:extLst>
          </p:cNvPr>
          <p:cNvSpPr txBox="1">
            <a:spLocks/>
          </p:cNvSpPr>
          <p:nvPr/>
        </p:nvSpPr>
        <p:spPr>
          <a:xfrm>
            <a:off x="5636931" y="2332680"/>
            <a:ext cx="3337561" cy="15799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Integrating the distributed forces also gives the shear force diagram when graphed.</a:t>
            </a:r>
          </a:p>
        </p:txBody>
      </p:sp>
    </p:spTree>
    <p:extLst>
      <p:ext uri="{BB962C8B-B14F-4D97-AF65-F5344CB8AC3E}">
        <p14:creationId xmlns:p14="http://schemas.microsoft.com/office/powerpoint/2010/main" val="3779093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23BAD-0EEF-2AD4-9920-60CEA3BD3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A4474-E666-B9AA-B558-0FFC8AE15AE4}"/>
              </a:ext>
            </a:extLst>
          </p:cNvPr>
          <p:cNvSpPr>
            <a:spLocks noGrp="1"/>
          </p:cNvSpPr>
          <p:nvPr>
            <p:ph type="title"/>
          </p:nvPr>
        </p:nvSpPr>
        <p:spPr>
          <a:xfrm>
            <a:off x="893064" y="72518"/>
            <a:ext cx="8297380" cy="1326514"/>
          </a:xfrm>
        </p:spPr>
        <p:txBody>
          <a:bodyPr/>
          <a:lstStyle/>
          <a:p>
            <a:r>
              <a:rPr lang="en-US" dirty="0"/>
              <a:t>Moment diagram</a:t>
            </a:r>
            <a:endParaRPr lang="en-ZA" dirty="0"/>
          </a:p>
        </p:txBody>
      </p:sp>
      <p:sp>
        <p:nvSpPr>
          <p:cNvPr id="3" name="Slide Number Placeholder 2">
            <a:extLst>
              <a:ext uri="{FF2B5EF4-FFF2-40B4-BE49-F238E27FC236}">
                <a16:creationId xmlns:a16="http://schemas.microsoft.com/office/drawing/2014/main" id="{F769225E-B122-709E-0690-4682F0E72100}"/>
              </a:ext>
            </a:extLst>
          </p:cNvPr>
          <p:cNvSpPr>
            <a:spLocks noGrp="1"/>
          </p:cNvSpPr>
          <p:nvPr>
            <p:ph type="sldNum" sz="quarter" idx="12"/>
          </p:nvPr>
        </p:nvSpPr>
        <p:spPr>
          <a:xfrm>
            <a:off x="911352" y="6246622"/>
            <a:ext cx="267004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400" b="1" i="0" u="none" strike="noStrike" kern="1200" cap="none" spc="0" normalizeH="0" baseline="0" noProof="0" smtClean="0">
                <a:ln>
                  <a:noFill/>
                </a:ln>
                <a:solidFill>
                  <a:prstClr val="black"/>
                </a:solidFill>
                <a:effectLst/>
                <a:uLnTx/>
                <a:uFillTx/>
                <a:latin typeface="Postera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prstClr val="black"/>
              </a:solidFill>
              <a:effectLst/>
              <a:uLnTx/>
              <a:uFillTx/>
              <a:latin typeface="Posterama"/>
              <a:ea typeface="+mn-ea"/>
              <a:cs typeface="+mn-cs"/>
            </a:endParaRPr>
          </a:p>
        </p:txBody>
      </p:sp>
      <p:sp>
        <p:nvSpPr>
          <p:cNvPr id="6" name="TextBox 5">
            <a:extLst>
              <a:ext uri="{FF2B5EF4-FFF2-40B4-BE49-F238E27FC236}">
                <a16:creationId xmlns:a16="http://schemas.microsoft.com/office/drawing/2014/main" id="{C1890C33-882C-6659-6C0B-1A87E44217D1}"/>
              </a:ext>
            </a:extLst>
          </p:cNvPr>
          <p:cNvSpPr txBox="1"/>
          <p:nvPr/>
        </p:nvSpPr>
        <p:spPr>
          <a:xfrm>
            <a:off x="1014624" y="3394229"/>
            <a:ext cx="62587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venir Next LT Pro Light"/>
                <a:ea typeface="+mn-ea"/>
                <a:cs typeface="+mn-cs"/>
              </a:rPr>
              <a:t>lb*ft</a:t>
            </a:r>
          </a:p>
        </p:txBody>
      </p:sp>
      <p:sp>
        <p:nvSpPr>
          <p:cNvPr id="7" name="TextBox 6">
            <a:extLst>
              <a:ext uri="{FF2B5EF4-FFF2-40B4-BE49-F238E27FC236}">
                <a16:creationId xmlns:a16="http://schemas.microsoft.com/office/drawing/2014/main" id="{7EF7A601-1F1C-AF54-DD39-E218D8D566DC}"/>
              </a:ext>
            </a:extLst>
          </p:cNvPr>
          <p:cNvSpPr txBox="1"/>
          <p:nvPr/>
        </p:nvSpPr>
        <p:spPr>
          <a:xfrm>
            <a:off x="3028074" y="5973044"/>
            <a:ext cx="5120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venir Next LT Pro Light"/>
                <a:ea typeface="+mn-ea"/>
                <a:cs typeface="+mn-cs"/>
              </a:rPr>
              <a:t>5 ft</a:t>
            </a:r>
          </a:p>
        </p:txBody>
      </p:sp>
      <p:sp>
        <p:nvSpPr>
          <p:cNvPr id="9" name="TextBox 8">
            <a:extLst>
              <a:ext uri="{FF2B5EF4-FFF2-40B4-BE49-F238E27FC236}">
                <a16:creationId xmlns:a16="http://schemas.microsoft.com/office/drawing/2014/main" id="{35506E41-87E1-16B5-C1DE-6EC2122B11C0}"/>
              </a:ext>
            </a:extLst>
          </p:cNvPr>
          <p:cNvSpPr txBox="1"/>
          <p:nvPr/>
        </p:nvSpPr>
        <p:spPr>
          <a:xfrm>
            <a:off x="4851952" y="5970516"/>
            <a:ext cx="5120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venir Next LT Pro Light"/>
                <a:ea typeface="+mn-ea"/>
                <a:cs typeface="+mn-cs"/>
              </a:rPr>
              <a:t>8 ft</a:t>
            </a:r>
          </a:p>
        </p:txBody>
      </p:sp>
      <p:sp>
        <p:nvSpPr>
          <p:cNvPr id="11" name="TextBox 10">
            <a:extLst>
              <a:ext uri="{FF2B5EF4-FFF2-40B4-BE49-F238E27FC236}">
                <a16:creationId xmlns:a16="http://schemas.microsoft.com/office/drawing/2014/main" id="{3C99E2DE-07E8-462C-6B92-9F4A2E7DD1DD}"/>
              </a:ext>
            </a:extLst>
          </p:cNvPr>
          <p:cNvSpPr txBox="1"/>
          <p:nvPr/>
        </p:nvSpPr>
        <p:spPr>
          <a:xfrm>
            <a:off x="6110179" y="5985359"/>
            <a:ext cx="5120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venir Next LT Pro Light"/>
                <a:ea typeface="+mn-ea"/>
                <a:cs typeface="+mn-cs"/>
              </a:rPr>
              <a:t>1 ft</a:t>
            </a:r>
          </a:p>
        </p:txBody>
      </p:sp>
      <p:sp>
        <p:nvSpPr>
          <p:cNvPr id="12" name="TextBox 11">
            <a:extLst>
              <a:ext uri="{FF2B5EF4-FFF2-40B4-BE49-F238E27FC236}">
                <a16:creationId xmlns:a16="http://schemas.microsoft.com/office/drawing/2014/main" id="{B7D61BBC-8AB5-91CC-C270-7516C51F3DF0}"/>
              </a:ext>
            </a:extLst>
          </p:cNvPr>
          <p:cNvSpPr txBox="1"/>
          <p:nvPr/>
        </p:nvSpPr>
        <p:spPr>
          <a:xfrm>
            <a:off x="7253157" y="6000201"/>
            <a:ext cx="5120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venir Next LT Pro Light"/>
                <a:ea typeface="+mn-ea"/>
                <a:cs typeface="+mn-cs"/>
              </a:rPr>
              <a:t>6 ft</a:t>
            </a:r>
          </a:p>
        </p:txBody>
      </p:sp>
      <p:sp>
        <p:nvSpPr>
          <p:cNvPr id="13" name="Left Brace 12">
            <a:extLst>
              <a:ext uri="{FF2B5EF4-FFF2-40B4-BE49-F238E27FC236}">
                <a16:creationId xmlns:a16="http://schemas.microsoft.com/office/drawing/2014/main" id="{0D5E8CF3-4A6F-DAB8-843B-F1C507725533}"/>
              </a:ext>
            </a:extLst>
          </p:cNvPr>
          <p:cNvSpPr/>
          <p:nvPr/>
        </p:nvSpPr>
        <p:spPr>
          <a:xfrm rot="16200000">
            <a:off x="3454844" y="4832930"/>
            <a:ext cx="157509" cy="154752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Light"/>
              <a:ea typeface="+mn-ea"/>
              <a:cs typeface="+mn-cs"/>
            </a:endParaRPr>
          </a:p>
        </p:txBody>
      </p:sp>
      <p:sp>
        <p:nvSpPr>
          <p:cNvPr id="14" name="Left Brace 13">
            <a:extLst>
              <a:ext uri="{FF2B5EF4-FFF2-40B4-BE49-F238E27FC236}">
                <a16:creationId xmlns:a16="http://schemas.microsoft.com/office/drawing/2014/main" id="{D87BA8DC-87E2-F926-5FD7-E32A1CC3002A}"/>
              </a:ext>
            </a:extLst>
          </p:cNvPr>
          <p:cNvSpPr/>
          <p:nvPr/>
        </p:nvSpPr>
        <p:spPr>
          <a:xfrm rot="16200000">
            <a:off x="5280065" y="4617623"/>
            <a:ext cx="93415" cy="195555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Light"/>
              <a:ea typeface="+mn-ea"/>
              <a:cs typeface="+mn-cs"/>
            </a:endParaRPr>
          </a:p>
        </p:txBody>
      </p:sp>
      <p:sp>
        <p:nvSpPr>
          <p:cNvPr id="16" name="Left Brace 15">
            <a:extLst>
              <a:ext uri="{FF2B5EF4-FFF2-40B4-BE49-F238E27FC236}">
                <a16:creationId xmlns:a16="http://schemas.microsoft.com/office/drawing/2014/main" id="{EE269B2B-059B-AFFC-1772-E69254A834F0}"/>
              </a:ext>
            </a:extLst>
          </p:cNvPr>
          <p:cNvSpPr/>
          <p:nvPr/>
        </p:nvSpPr>
        <p:spPr>
          <a:xfrm rot="16200000">
            <a:off x="6529630" y="5352858"/>
            <a:ext cx="93415" cy="48508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Next LT Pro Light"/>
              <a:ea typeface="+mn-ea"/>
              <a:cs typeface="+mn-cs"/>
            </a:endParaRPr>
          </a:p>
        </p:txBody>
      </p:sp>
      <p:pic>
        <p:nvPicPr>
          <p:cNvPr id="8" name="Picture 7">
            <a:extLst>
              <a:ext uri="{FF2B5EF4-FFF2-40B4-BE49-F238E27FC236}">
                <a16:creationId xmlns:a16="http://schemas.microsoft.com/office/drawing/2014/main" id="{FF9F0042-B724-8CFD-63D1-1D56C7F89BC0}"/>
              </a:ext>
            </a:extLst>
          </p:cNvPr>
          <p:cNvPicPr>
            <a:picLocks noChangeAspect="1"/>
          </p:cNvPicPr>
          <p:nvPr/>
        </p:nvPicPr>
        <p:blipFill>
          <a:blip r:embed="rId2"/>
          <a:stretch>
            <a:fillRect/>
          </a:stretch>
        </p:blipFill>
        <p:spPr>
          <a:xfrm>
            <a:off x="1640501" y="1821158"/>
            <a:ext cx="7014170" cy="4183891"/>
          </a:xfrm>
          <a:prstGeom prst="rect">
            <a:avLst/>
          </a:prstGeom>
        </p:spPr>
      </p:pic>
      <p:sp>
        <p:nvSpPr>
          <p:cNvPr id="15" name="Left Brace 14">
            <a:extLst>
              <a:ext uri="{FF2B5EF4-FFF2-40B4-BE49-F238E27FC236}">
                <a16:creationId xmlns:a16="http://schemas.microsoft.com/office/drawing/2014/main" id="{886BCDAA-1565-CADA-9865-BB128923C1F5}"/>
              </a:ext>
            </a:extLst>
          </p:cNvPr>
          <p:cNvSpPr/>
          <p:nvPr/>
        </p:nvSpPr>
        <p:spPr>
          <a:xfrm rot="16200000">
            <a:off x="3244718" y="5025050"/>
            <a:ext cx="157509" cy="154752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Left Brace 17">
            <a:extLst>
              <a:ext uri="{FF2B5EF4-FFF2-40B4-BE49-F238E27FC236}">
                <a16:creationId xmlns:a16="http://schemas.microsoft.com/office/drawing/2014/main" id="{0CA1C452-520A-7E83-39E7-714B2EBD58B8}"/>
              </a:ext>
            </a:extLst>
          </p:cNvPr>
          <p:cNvSpPr/>
          <p:nvPr/>
        </p:nvSpPr>
        <p:spPr>
          <a:xfrm rot="16200000">
            <a:off x="5069939" y="4809743"/>
            <a:ext cx="93415" cy="195555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Left Brace 18">
            <a:extLst>
              <a:ext uri="{FF2B5EF4-FFF2-40B4-BE49-F238E27FC236}">
                <a16:creationId xmlns:a16="http://schemas.microsoft.com/office/drawing/2014/main" id="{BEA42802-C215-9A83-3B8A-9240A8C74DF5}"/>
              </a:ext>
            </a:extLst>
          </p:cNvPr>
          <p:cNvSpPr/>
          <p:nvPr/>
        </p:nvSpPr>
        <p:spPr>
          <a:xfrm rot="16200000">
            <a:off x="6319504" y="5544978"/>
            <a:ext cx="93415" cy="48508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Left Brace 19">
            <a:extLst>
              <a:ext uri="{FF2B5EF4-FFF2-40B4-BE49-F238E27FC236}">
                <a16:creationId xmlns:a16="http://schemas.microsoft.com/office/drawing/2014/main" id="{8AA3F8E1-35CB-0B16-5017-E88488D45B4C}"/>
              </a:ext>
            </a:extLst>
          </p:cNvPr>
          <p:cNvSpPr/>
          <p:nvPr/>
        </p:nvSpPr>
        <p:spPr>
          <a:xfrm rot="16200000">
            <a:off x="7312940" y="5023105"/>
            <a:ext cx="134616" cy="15886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ectangle 20">
            <a:extLst>
              <a:ext uri="{FF2B5EF4-FFF2-40B4-BE49-F238E27FC236}">
                <a16:creationId xmlns:a16="http://schemas.microsoft.com/office/drawing/2014/main" id="{6B9CF557-A771-1433-5638-8DFCC34A2FB3}"/>
              </a:ext>
            </a:extLst>
          </p:cNvPr>
          <p:cNvSpPr/>
          <p:nvPr/>
        </p:nvSpPr>
        <p:spPr>
          <a:xfrm>
            <a:off x="6249222" y="1352153"/>
            <a:ext cx="3850712" cy="23134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ntent Placeholder 8">
            <a:extLst>
              <a:ext uri="{FF2B5EF4-FFF2-40B4-BE49-F238E27FC236}">
                <a16:creationId xmlns:a16="http://schemas.microsoft.com/office/drawing/2014/main" id="{ECC5CB01-B2D8-DE18-8309-569DBA9C8452}"/>
              </a:ext>
            </a:extLst>
          </p:cNvPr>
          <p:cNvSpPr txBox="1">
            <a:spLocks/>
          </p:cNvSpPr>
          <p:nvPr/>
        </p:nvSpPr>
        <p:spPr>
          <a:xfrm>
            <a:off x="6576337" y="2333112"/>
            <a:ext cx="3337561" cy="15799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Integrating the shear force diagram gives the following moment diagram.</a:t>
            </a:r>
          </a:p>
        </p:txBody>
      </p:sp>
    </p:spTree>
    <p:extLst>
      <p:ext uri="{BB962C8B-B14F-4D97-AF65-F5344CB8AC3E}">
        <p14:creationId xmlns:p14="http://schemas.microsoft.com/office/powerpoint/2010/main" val="3748518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BF9F0-B02C-F479-3755-F41439C1E147}"/>
              </a:ext>
            </a:extLst>
          </p:cNvPr>
          <p:cNvSpPr>
            <a:spLocks noGrp="1"/>
          </p:cNvSpPr>
          <p:nvPr>
            <p:ph type="title"/>
          </p:nvPr>
        </p:nvSpPr>
        <p:spPr>
          <a:xfrm>
            <a:off x="6095999" y="441960"/>
            <a:ext cx="5641897" cy="3316893"/>
          </a:xfrm>
        </p:spPr>
        <p:txBody>
          <a:bodyPr/>
          <a:lstStyle/>
          <a:p>
            <a:r>
              <a:rPr lang="en-US" dirty="0"/>
              <a:t>Design considerations</a:t>
            </a:r>
            <a:endParaRPr lang="en-ZA" dirty="0"/>
          </a:p>
        </p:txBody>
      </p:sp>
    </p:spTree>
    <p:extLst>
      <p:ext uri="{BB962C8B-B14F-4D97-AF65-F5344CB8AC3E}">
        <p14:creationId xmlns:p14="http://schemas.microsoft.com/office/powerpoint/2010/main" val="4043390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3CA8C54-30A3-3553-626E-52909A83C86B}"/>
              </a:ext>
            </a:extLst>
          </p:cNvPr>
          <p:cNvSpPr>
            <a:spLocks noGrp="1"/>
          </p:cNvSpPr>
          <p:nvPr>
            <p:ph type="title"/>
          </p:nvPr>
        </p:nvSpPr>
        <p:spPr>
          <a:xfrm>
            <a:off x="893064" y="72518"/>
            <a:ext cx="10405174" cy="1326514"/>
          </a:xfrm>
        </p:spPr>
        <p:txBody>
          <a:bodyPr/>
          <a:lstStyle/>
          <a:p>
            <a:r>
              <a:rPr lang="en-US" dirty="0"/>
              <a:t>Design requirements</a:t>
            </a:r>
            <a:endParaRPr lang="en-ZA" dirty="0"/>
          </a:p>
        </p:txBody>
      </p:sp>
      <p:sp>
        <p:nvSpPr>
          <p:cNvPr id="9" name="Content Placeholder 8">
            <a:extLst>
              <a:ext uri="{FF2B5EF4-FFF2-40B4-BE49-F238E27FC236}">
                <a16:creationId xmlns:a16="http://schemas.microsoft.com/office/drawing/2014/main" id="{57454D1F-D2CD-3356-639E-75B37DE30F1F}"/>
              </a:ext>
            </a:extLst>
          </p:cNvPr>
          <p:cNvSpPr>
            <a:spLocks noGrp="1"/>
          </p:cNvSpPr>
          <p:nvPr>
            <p:ph sz="quarter" idx="14"/>
          </p:nvPr>
        </p:nvSpPr>
        <p:spPr>
          <a:xfrm>
            <a:off x="2999231" y="1978945"/>
            <a:ext cx="7283757" cy="3687763"/>
          </a:xfrm>
        </p:spPr>
        <p:txBody>
          <a:bodyPr>
            <a:noAutofit/>
          </a:bodyPr>
          <a:lstStyle/>
          <a:p>
            <a:pPr algn="ctr"/>
            <a:r>
              <a:rPr lang="en-US" sz="1800" dirty="0"/>
              <a:t>The following beam will have to conform to the given requirements:</a:t>
            </a:r>
          </a:p>
          <a:p>
            <a:endParaRPr lang="en-US" sz="1800" dirty="0"/>
          </a:p>
          <a:p>
            <a:pPr lvl="1"/>
            <a:r>
              <a:rPr lang="en-US" sz="1800" dirty="0"/>
              <a:t>A36 Steel Construction</a:t>
            </a:r>
          </a:p>
          <a:p>
            <a:pPr lvl="1"/>
            <a:r>
              <a:rPr lang="en-US" sz="1800" dirty="0"/>
              <a:t>Factor of Safety = 4</a:t>
            </a:r>
          </a:p>
          <a:p>
            <a:pPr lvl="1"/>
            <a:r>
              <a:rPr lang="en-US" sz="1800" dirty="0"/>
              <a:t>Minimum material thickness = ½ in</a:t>
            </a:r>
          </a:p>
          <a:p>
            <a:pPr lvl="1"/>
            <a:r>
              <a:rPr lang="en-US" sz="1800" dirty="0"/>
              <a:t>Minimum beam width = 4 in</a:t>
            </a:r>
          </a:p>
          <a:p>
            <a:pPr lvl="1"/>
            <a:r>
              <a:rPr lang="en-US" sz="1800" dirty="0"/>
              <a:t>Beam cross section should be symmetric across two axes.</a:t>
            </a:r>
          </a:p>
          <a:p>
            <a:pPr lvl="1"/>
            <a:r>
              <a:rPr lang="en-US" sz="1800" dirty="0"/>
              <a:t>Given beam shape (solid constant, hollow constant, varied)</a:t>
            </a:r>
          </a:p>
          <a:p>
            <a:pPr lvl="1"/>
            <a:r>
              <a:rPr lang="en-US" sz="1800" dirty="0"/>
              <a:t>Minimize weight</a:t>
            </a:r>
          </a:p>
        </p:txBody>
      </p:sp>
      <p:sp>
        <p:nvSpPr>
          <p:cNvPr id="3" name="Slide Number Placeholder 2">
            <a:extLst>
              <a:ext uri="{FF2B5EF4-FFF2-40B4-BE49-F238E27FC236}">
                <a16:creationId xmlns:a16="http://schemas.microsoft.com/office/drawing/2014/main" id="{B02207A1-A505-3185-A282-927E9F6F0E61}"/>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812209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4228-0DC4-4119-B9C7-6C936C41E980}"/>
              </a:ext>
            </a:extLst>
          </p:cNvPr>
          <p:cNvSpPr>
            <a:spLocks noGrp="1"/>
          </p:cNvSpPr>
          <p:nvPr>
            <p:ph type="title"/>
          </p:nvPr>
        </p:nvSpPr>
        <p:spPr>
          <a:xfrm>
            <a:off x="893064" y="72518"/>
            <a:ext cx="10405174" cy="1326514"/>
          </a:xfrm>
        </p:spPr>
        <p:txBody>
          <a:bodyPr anchor="b">
            <a:normAutofit/>
          </a:bodyPr>
          <a:lstStyle/>
          <a:p>
            <a:r>
              <a:rPr lang="en-US" dirty="0"/>
              <a:t>Solid constant beam shape</a:t>
            </a:r>
            <a:endParaRPr lang="en-ZA" dirty="0"/>
          </a:p>
        </p:txBody>
      </p:sp>
      <p:pic>
        <p:nvPicPr>
          <p:cNvPr id="9" name="Picture 8">
            <a:extLst>
              <a:ext uri="{FF2B5EF4-FFF2-40B4-BE49-F238E27FC236}">
                <a16:creationId xmlns:a16="http://schemas.microsoft.com/office/drawing/2014/main" id="{4D9D162D-B1D9-7CF8-D1FF-0F63150C2A57}"/>
              </a:ext>
            </a:extLst>
          </p:cNvPr>
          <p:cNvPicPr>
            <a:picLocks noChangeAspect="1"/>
          </p:cNvPicPr>
          <p:nvPr/>
        </p:nvPicPr>
        <p:blipFill>
          <a:blip r:embed="rId2"/>
          <a:stretch>
            <a:fillRect/>
          </a:stretch>
        </p:blipFill>
        <p:spPr>
          <a:xfrm>
            <a:off x="1396645" y="2073275"/>
            <a:ext cx="2139073" cy="3687763"/>
          </a:xfrm>
          <a:prstGeom prst="rect">
            <a:avLst/>
          </a:prstGeom>
          <a:noFill/>
        </p:spPr>
      </p:pic>
      <p:sp>
        <p:nvSpPr>
          <p:cNvPr id="4" name="Content Placeholder 3">
            <a:extLst>
              <a:ext uri="{FF2B5EF4-FFF2-40B4-BE49-F238E27FC236}">
                <a16:creationId xmlns:a16="http://schemas.microsoft.com/office/drawing/2014/main" id="{7658EE59-4D4C-0681-0DD3-18233C3F94A9}"/>
              </a:ext>
            </a:extLst>
          </p:cNvPr>
          <p:cNvSpPr>
            <a:spLocks noGrp="1"/>
          </p:cNvSpPr>
          <p:nvPr>
            <p:ph sz="quarter" idx="14"/>
          </p:nvPr>
        </p:nvSpPr>
        <p:spPr>
          <a:xfrm>
            <a:off x="4556760" y="2073275"/>
            <a:ext cx="6192838" cy="3687763"/>
          </a:xfrm>
        </p:spPr>
        <p:txBody>
          <a:bodyPr>
            <a:noAutofit/>
          </a:bodyPr>
          <a:lstStyle/>
          <a:p>
            <a:r>
              <a:rPr lang="en-US" sz="2800" dirty="0"/>
              <a:t>An I-Beam shape was selected for its efficient resistance to shear and bending forces. An I-beam is comprised of two main components:</a:t>
            </a:r>
          </a:p>
          <a:p>
            <a:pPr algn="ctr"/>
            <a:endParaRPr lang="en-US" sz="2800" dirty="0"/>
          </a:p>
          <a:p>
            <a:pPr lvl="1" algn="ctr"/>
            <a:r>
              <a:rPr lang="en-US" sz="2800" dirty="0"/>
              <a:t>The “web”</a:t>
            </a:r>
          </a:p>
          <a:p>
            <a:pPr lvl="1" algn="ctr"/>
            <a:r>
              <a:rPr lang="en-US" sz="2800" dirty="0"/>
              <a:t>The “flange”</a:t>
            </a:r>
          </a:p>
        </p:txBody>
      </p:sp>
      <p:sp>
        <p:nvSpPr>
          <p:cNvPr id="3" name="Slide Number Placeholder 2">
            <a:extLst>
              <a:ext uri="{FF2B5EF4-FFF2-40B4-BE49-F238E27FC236}">
                <a16:creationId xmlns:a16="http://schemas.microsoft.com/office/drawing/2014/main" id="{714ECC30-C8C7-7D87-4D74-AECB825055F7}"/>
              </a:ext>
            </a:extLst>
          </p:cNvPr>
          <p:cNvSpPr>
            <a:spLocks noGrp="1"/>
          </p:cNvSpPr>
          <p:nvPr>
            <p:ph type="sldNum" sz="quarter" idx="12"/>
          </p:nvPr>
        </p:nvSpPr>
        <p:spPr>
          <a:xfrm>
            <a:off x="911352" y="6246622"/>
            <a:ext cx="2670048" cy="365125"/>
          </a:xfrm>
        </p:spPr>
        <p:txBody>
          <a:bodyPr anchor="ctr">
            <a:normAutofit/>
          </a:bodyPr>
          <a:lstStyle/>
          <a:p>
            <a:pPr>
              <a:spcAft>
                <a:spcPts val="600"/>
              </a:spcAft>
            </a:pPr>
            <a:fld id="{B5CEABB6-07DC-46E8-9B57-56EC44A396E5}" type="slidenum">
              <a:rPr lang="en-US" smtClean="0"/>
              <a:pPr>
                <a:spcAft>
                  <a:spcPts val="600"/>
                </a:spcAft>
              </a:pPr>
              <a:t>8</a:t>
            </a:fld>
            <a:endParaRPr lang="en-US"/>
          </a:p>
        </p:txBody>
      </p:sp>
      <p:sp>
        <p:nvSpPr>
          <p:cNvPr id="10" name="TextBox 9">
            <a:extLst>
              <a:ext uri="{FF2B5EF4-FFF2-40B4-BE49-F238E27FC236}">
                <a16:creationId xmlns:a16="http://schemas.microsoft.com/office/drawing/2014/main" id="{1C367C13-F999-BE57-2810-E009AA2BF44B}"/>
              </a:ext>
            </a:extLst>
          </p:cNvPr>
          <p:cNvSpPr txBox="1"/>
          <p:nvPr/>
        </p:nvSpPr>
        <p:spPr>
          <a:xfrm>
            <a:off x="2058056" y="5742220"/>
            <a:ext cx="816249" cy="261610"/>
          </a:xfrm>
          <a:prstGeom prst="rect">
            <a:avLst/>
          </a:prstGeom>
          <a:noFill/>
        </p:spPr>
        <p:txBody>
          <a:bodyPr wrap="none" rtlCol="0">
            <a:spAutoFit/>
          </a:bodyPr>
          <a:lstStyle/>
          <a:p>
            <a:r>
              <a:rPr lang="en-US" sz="1100" i="1" dirty="0"/>
              <a:t>Wikipedia</a:t>
            </a:r>
          </a:p>
        </p:txBody>
      </p:sp>
    </p:spTree>
    <p:extLst>
      <p:ext uri="{BB962C8B-B14F-4D97-AF65-F5344CB8AC3E}">
        <p14:creationId xmlns:p14="http://schemas.microsoft.com/office/powerpoint/2010/main" val="1041471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460D4-C1C9-3FE4-92B5-6B4E3FCEF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49DF0-BB32-7CA1-43D2-C5907E76DE85}"/>
              </a:ext>
            </a:extLst>
          </p:cNvPr>
          <p:cNvSpPr>
            <a:spLocks noGrp="1"/>
          </p:cNvSpPr>
          <p:nvPr>
            <p:ph type="title"/>
          </p:nvPr>
        </p:nvSpPr>
        <p:spPr>
          <a:xfrm>
            <a:off x="893064" y="72518"/>
            <a:ext cx="10405174" cy="1326514"/>
          </a:xfrm>
        </p:spPr>
        <p:txBody>
          <a:bodyPr anchor="b">
            <a:normAutofit/>
          </a:bodyPr>
          <a:lstStyle/>
          <a:p>
            <a:r>
              <a:rPr lang="en-US" dirty="0"/>
              <a:t>Solid constant beam shape</a:t>
            </a:r>
            <a:endParaRPr lang="en-ZA" dirty="0"/>
          </a:p>
        </p:txBody>
      </p:sp>
      <p:sp>
        <p:nvSpPr>
          <p:cNvPr id="4" name="Content Placeholder 3">
            <a:extLst>
              <a:ext uri="{FF2B5EF4-FFF2-40B4-BE49-F238E27FC236}">
                <a16:creationId xmlns:a16="http://schemas.microsoft.com/office/drawing/2014/main" id="{34029EAF-2B81-80D1-6520-34C2AAA22970}"/>
              </a:ext>
            </a:extLst>
          </p:cNvPr>
          <p:cNvSpPr>
            <a:spLocks noGrp="1"/>
          </p:cNvSpPr>
          <p:nvPr>
            <p:ph sz="quarter" idx="14"/>
          </p:nvPr>
        </p:nvSpPr>
        <p:spPr>
          <a:xfrm>
            <a:off x="817949" y="2104998"/>
            <a:ext cx="6192838" cy="3687763"/>
          </a:xfrm>
        </p:spPr>
        <p:txBody>
          <a:bodyPr>
            <a:noAutofit/>
          </a:bodyPr>
          <a:lstStyle/>
          <a:p>
            <a:r>
              <a:rPr lang="en-US" sz="2800" dirty="0"/>
              <a:t>The “web”, or middle portion of the I-beam can handle large shear forces, while the “flange” of the I-beam can handle large bending forces. This makes I-beams an attractive tool for supporting loads, particularly in civil engineering.</a:t>
            </a:r>
          </a:p>
        </p:txBody>
      </p:sp>
      <p:sp>
        <p:nvSpPr>
          <p:cNvPr id="3" name="Slide Number Placeholder 2">
            <a:extLst>
              <a:ext uri="{FF2B5EF4-FFF2-40B4-BE49-F238E27FC236}">
                <a16:creationId xmlns:a16="http://schemas.microsoft.com/office/drawing/2014/main" id="{DB21542D-E87E-D62F-04A6-73E7BB011395}"/>
              </a:ext>
            </a:extLst>
          </p:cNvPr>
          <p:cNvSpPr>
            <a:spLocks noGrp="1"/>
          </p:cNvSpPr>
          <p:nvPr>
            <p:ph type="sldNum" sz="quarter" idx="12"/>
          </p:nvPr>
        </p:nvSpPr>
        <p:spPr>
          <a:xfrm>
            <a:off x="911352" y="6246622"/>
            <a:ext cx="2670048" cy="365125"/>
          </a:xfrm>
        </p:spPr>
        <p:txBody>
          <a:bodyPr anchor="ctr">
            <a:normAutofit/>
          </a:bodyPr>
          <a:lstStyle/>
          <a:p>
            <a:pPr>
              <a:spcAft>
                <a:spcPts val="600"/>
              </a:spcAft>
            </a:pPr>
            <a:fld id="{B5CEABB6-07DC-46E8-9B57-56EC44A396E5}" type="slidenum">
              <a:rPr lang="en-US" smtClean="0"/>
              <a:pPr>
                <a:spcAft>
                  <a:spcPts val="600"/>
                </a:spcAft>
              </a:pPr>
              <a:t>9</a:t>
            </a:fld>
            <a:endParaRPr lang="en-US"/>
          </a:p>
        </p:txBody>
      </p:sp>
      <p:pic>
        <p:nvPicPr>
          <p:cNvPr id="6" name="Picture 5">
            <a:extLst>
              <a:ext uri="{FF2B5EF4-FFF2-40B4-BE49-F238E27FC236}">
                <a16:creationId xmlns:a16="http://schemas.microsoft.com/office/drawing/2014/main" id="{4A5FACC4-6B48-554B-D303-8CCE5EEE0908}"/>
              </a:ext>
            </a:extLst>
          </p:cNvPr>
          <p:cNvPicPr>
            <a:picLocks noChangeAspect="1"/>
          </p:cNvPicPr>
          <p:nvPr/>
        </p:nvPicPr>
        <p:blipFill>
          <a:blip r:embed="rId2"/>
          <a:stretch>
            <a:fillRect/>
          </a:stretch>
        </p:blipFill>
        <p:spPr>
          <a:xfrm>
            <a:off x="7010787" y="2104998"/>
            <a:ext cx="4458516" cy="3343887"/>
          </a:xfrm>
          <a:prstGeom prst="rect">
            <a:avLst/>
          </a:prstGeom>
        </p:spPr>
      </p:pic>
      <p:sp>
        <p:nvSpPr>
          <p:cNvPr id="7" name="TextBox 6">
            <a:extLst>
              <a:ext uri="{FF2B5EF4-FFF2-40B4-BE49-F238E27FC236}">
                <a16:creationId xmlns:a16="http://schemas.microsoft.com/office/drawing/2014/main" id="{0B7B2E33-CA0D-E253-1068-5269EBECA6E9}"/>
              </a:ext>
            </a:extLst>
          </p:cNvPr>
          <p:cNvSpPr txBox="1"/>
          <p:nvPr/>
        </p:nvSpPr>
        <p:spPr>
          <a:xfrm>
            <a:off x="8819450" y="4613455"/>
            <a:ext cx="1306768" cy="261610"/>
          </a:xfrm>
          <a:prstGeom prst="rect">
            <a:avLst/>
          </a:prstGeom>
          <a:noFill/>
        </p:spPr>
        <p:txBody>
          <a:bodyPr wrap="none" rtlCol="0">
            <a:spAutoFit/>
          </a:bodyPr>
          <a:lstStyle/>
          <a:p>
            <a:r>
              <a:rPr lang="en-US" sz="1100" i="1" dirty="0"/>
              <a:t>Yena Engineering</a:t>
            </a:r>
          </a:p>
        </p:txBody>
      </p:sp>
    </p:spTree>
    <p:extLst>
      <p:ext uri="{BB962C8B-B14F-4D97-AF65-F5344CB8AC3E}">
        <p14:creationId xmlns:p14="http://schemas.microsoft.com/office/powerpoint/2010/main" val="2690501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151F2-E271-9D3E-6763-00DCD5BE9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CE73F-2BCD-61D4-62D6-2BA74EED45BD}"/>
              </a:ext>
            </a:extLst>
          </p:cNvPr>
          <p:cNvSpPr>
            <a:spLocks noGrp="1"/>
          </p:cNvSpPr>
          <p:nvPr>
            <p:ph type="title"/>
          </p:nvPr>
        </p:nvSpPr>
        <p:spPr>
          <a:xfrm>
            <a:off x="893064" y="72518"/>
            <a:ext cx="10405174" cy="1326514"/>
          </a:xfrm>
        </p:spPr>
        <p:txBody>
          <a:bodyPr anchor="b">
            <a:normAutofit/>
          </a:bodyPr>
          <a:lstStyle/>
          <a:p>
            <a:r>
              <a:rPr lang="en-US" dirty="0"/>
              <a:t>Ultimate solid-constant beam design</a:t>
            </a:r>
            <a:endParaRPr lang="en-ZA" dirty="0"/>
          </a:p>
        </p:txBody>
      </p:sp>
      <p:sp>
        <p:nvSpPr>
          <p:cNvPr id="3" name="Slide Number Placeholder 2">
            <a:extLst>
              <a:ext uri="{FF2B5EF4-FFF2-40B4-BE49-F238E27FC236}">
                <a16:creationId xmlns:a16="http://schemas.microsoft.com/office/drawing/2014/main" id="{5F8B46BD-1A30-DE39-C236-365ACC1C9A76}"/>
              </a:ext>
            </a:extLst>
          </p:cNvPr>
          <p:cNvSpPr>
            <a:spLocks noGrp="1"/>
          </p:cNvSpPr>
          <p:nvPr>
            <p:ph type="sldNum" sz="quarter" idx="12"/>
          </p:nvPr>
        </p:nvSpPr>
        <p:spPr>
          <a:xfrm>
            <a:off x="911352" y="6246622"/>
            <a:ext cx="2670048" cy="365125"/>
          </a:xfrm>
        </p:spPr>
        <p:txBody>
          <a:bodyPr anchor="ctr">
            <a:normAutofit/>
          </a:bodyPr>
          <a:lstStyle/>
          <a:p>
            <a:pPr>
              <a:spcAft>
                <a:spcPts val="600"/>
              </a:spcAft>
            </a:pPr>
            <a:fld id="{B5CEABB6-07DC-46E8-9B57-56EC44A396E5}" type="slidenum">
              <a:rPr lang="en-US" smtClean="0"/>
              <a:pPr>
                <a:spcAft>
                  <a:spcPts val="600"/>
                </a:spcAft>
              </a:pPr>
              <a:t>10</a:t>
            </a:fld>
            <a:endParaRPr lang="en-US" dirty="0"/>
          </a:p>
        </p:txBody>
      </p:sp>
      <p:pic>
        <p:nvPicPr>
          <p:cNvPr id="11" name="Picture 10">
            <a:extLst>
              <a:ext uri="{FF2B5EF4-FFF2-40B4-BE49-F238E27FC236}">
                <a16:creationId xmlns:a16="http://schemas.microsoft.com/office/drawing/2014/main" id="{6593B309-6C8B-ED87-2178-19452A99BC03}"/>
              </a:ext>
            </a:extLst>
          </p:cNvPr>
          <p:cNvPicPr>
            <a:picLocks noChangeAspect="1"/>
          </p:cNvPicPr>
          <p:nvPr/>
        </p:nvPicPr>
        <p:blipFill>
          <a:blip r:embed="rId2"/>
          <a:stretch>
            <a:fillRect/>
          </a:stretch>
        </p:blipFill>
        <p:spPr>
          <a:xfrm>
            <a:off x="4446871" y="1511436"/>
            <a:ext cx="7417787" cy="3835127"/>
          </a:xfrm>
          <a:prstGeom prst="rect">
            <a:avLst/>
          </a:prstGeom>
        </p:spPr>
      </p:pic>
      <p:pic>
        <p:nvPicPr>
          <p:cNvPr id="13" name="Picture 12">
            <a:extLst>
              <a:ext uri="{FF2B5EF4-FFF2-40B4-BE49-F238E27FC236}">
                <a16:creationId xmlns:a16="http://schemas.microsoft.com/office/drawing/2014/main" id="{0C4C73D6-7958-CA0D-C80A-2826B1B27C77}"/>
              </a:ext>
            </a:extLst>
          </p:cNvPr>
          <p:cNvPicPr>
            <a:picLocks noChangeAspect="1"/>
          </p:cNvPicPr>
          <p:nvPr/>
        </p:nvPicPr>
        <p:blipFill>
          <a:blip r:embed="rId3"/>
          <a:stretch>
            <a:fillRect/>
          </a:stretch>
        </p:blipFill>
        <p:spPr>
          <a:xfrm>
            <a:off x="327342" y="1728795"/>
            <a:ext cx="3838067" cy="2714868"/>
          </a:xfrm>
          <a:prstGeom prst="rect">
            <a:avLst/>
          </a:prstGeom>
        </p:spPr>
      </p:pic>
      <p:sp>
        <p:nvSpPr>
          <p:cNvPr id="15" name="TextBox 14">
            <a:extLst>
              <a:ext uri="{FF2B5EF4-FFF2-40B4-BE49-F238E27FC236}">
                <a16:creationId xmlns:a16="http://schemas.microsoft.com/office/drawing/2014/main" id="{6432FF59-A6CD-38D2-4257-3C6F0BC3954D}"/>
              </a:ext>
            </a:extLst>
          </p:cNvPr>
          <p:cNvSpPr txBox="1"/>
          <p:nvPr/>
        </p:nvSpPr>
        <p:spPr>
          <a:xfrm>
            <a:off x="1319679" y="4443663"/>
            <a:ext cx="1853392" cy="369332"/>
          </a:xfrm>
          <a:prstGeom prst="rect">
            <a:avLst/>
          </a:prstGeom>
          <a:noFill/>
        </p:spPr>
        <p:txBody>
          <a:bodyPr wrap="none" rtlCol="0">
            <a:spAutoFit/>
          </a:bodyPr>
          <a:lstStyle/>
          <a:p>
            <a:pPr algn="ctr"/>
            <a:r>
              <a:rPr lang="en-US" dirty="0"/>
              <a:t>Height: </a:t>
            </a:r>
            <a:r>
              <a:rPr lang="en-US" b="1" dirty="0"/>
              <a:t>35.44 in</a:t>
            </a:r>
          </a:p>
        </p:txBody>
      </p:sp>
      <p:sp>
        <p:nvSpPr>
          <p:cNvPr id="16" name="TextBox 15">
            <a:extLst>
              <a:ext uri="{FF2B5EF4-FFF2-40B4-BE49-F238E27FC236}">
                <a16:creationId xmlns:a16="http://schemas.microsoft.com/office/drawing/2014/main" id="{6EE1513A-3E68-164E-AEFE-50C8AAF727ED}"/>
              </a:ext>
            </a:extLst>
          </p:cNvPr>
          <p:cNvSpPr txBox="1"/>
          <p:nvPr/>
        </p:nvSpPr>
        <p:spPr>
          <a:xfrm>
            <a:off x="1422271" y="4797316"/>
            <a:ext cx="1648208" cy="369332"/>
          </a:xfrm>
          <a:prstGeom prst="rect">
            <a:avLst/>
          </a:prstGeom>
          <a:noFill/>
        </p:spPr>
        <p:txBody>
          <a:bodyPr wrap="none" rtlCol="0">
            <a:spAutoFit/>
          </a:bodyPr>
          <a:lstStyle/>
          <a:p>
            <a:pPr algn="ctr"/>
            <a:r>
              <a:rPr lang="en-US" dirty="0"/>
              <a:t>Base: </a:t>
            </a:r>
            <a:r>
              <a:rPr lang="en-US" b="1" dirty="0"/>
              <a:t>49.29 in</a:t>
            </a:r>
          </a:p>
        </p:txBody>
      </p:sp>
      <p:sp>
        <p:nvSpPr>
          <p:cNvPr id="17" name="TextBox 16">
            <a:extLst>
              <a:ext uri="{FF2B5EF4-FFF2-40B4-BE49-F238E27FC236}">
                <a16:creationId xmlns:a16="http://schemas.microsoft.com/office/drawing/2014/main" id="{2845988E-62D0-24EA-FF85-B9A1A7AC437E}"/>
              </a:ext>
            </a:extLst>
          </p:cNvPr>
          <p:cNvSpPr txBox="1"/>
          <p:nvPr/>
        </p:nvSpPr>
        <p:spPr>
          <a:xfrm>
            <a:off x="740193" y="5150969"/>
            <a:ext cx="3012364" cy="369332"/>
          </a:xfrm>
          <a:prstGeom prst="rect">
            <a:avLst/>
          </a:prstGeom>
          <a:noFill/>
        </p:spPr>
        <p:txBody>
          <a:bodyPr wrap="none" rtlCol="0">
            <a:spAutoFit/>
          </a:bodyPr>
          <a:lstStyle/>
          <a:p>
            <a:pPr algn="ctr"/>
            <a:r>
              <a:rPr lang="en-US" dirty="0"/>
              <a:t>Flange thickness: </a:t>
            </a:r>
            <a:r>
              <a:rPr lang="en-US" b="1" dirty="0"/>
              <a:t>0.5000 in</a:t>
            </a:r>
          </a:p>
        </p:txBody>
      </p:sp>
      <p:sp>
        <p:nvSpPr>
          <p:cNvPr id="18" name="TextBox 17">
            <a:extLst>
              <a:ext uri="{FF2B5EF4-FFF2-40B4-BE49-F238E27FC236}">
                <a16:creationId xmlns:a16="http://schemas.microsoft.com/office/drawing/2014/main" id="{46A93BAA-348E-5380-6B23-E8141C518EAD}"/>
              </a:ext>
            </a:extLst>
          </p:cNvPr>
          <p:cNvSpPr txBox="1"/>
          <p:nvPr/>
        </p:nvSpPr>
        <p:spPr>
          <a:xfrm>
            <a:off x="958000" y="5539316"/>
            <a:ext cx="2652970" cy="369332"/>
          </a:xfrm>
          <a:prstGeom prst="rect">
            <a:avLst/>
          </a:prstGeom>
          <a:noFill/>
        </p:spPr>
        <p:txBody>
          <a:bodyPr wrap="none" rtlCol="0">
            <a:spAutoFit/>
          </a:bodyPr>
          <a:lstStyle/>
          <a:p>
            <a:pPr algn="ctr"/>
            <a:r>
              <a:rPr lang="en-US" dirty="0"/>
              <a:t>Web thickness: </a:t>
            </a:r>
            <a:r>
              <a:rPr lang="en-US" b="1" dirty="0"/>
              <a:t>4.254 in</a:t>
            </a:r>
          </a:p>
        </p:txBody>
      </p:sp>
    </p:spTree>
    <p:extLst>
      <p:ext uri="{BB962C8B-B14F-4D97-AF65-F5344CB8AC3E}">
        <p14:creationId xmlns:p14="http://schemas.microsoft.com/office/powerpoint/2010/main" val="3445384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0B503-01A3-E513-B569-0A72DCAA097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7432E14-E3CE-6BFE-98B6-21524628F11B}"/>
              </a:ext>
            </a:extLst>
          </p:cNvPr>
          <p:cNvSpPr>
            <a:spLocks noGrp="1"/>
          </p:cNvSpPr>
          <p:nvPr>
            <p:ph type="title"/>
          </p:nvPr>
        </p:nvSpPr>
        <p:spPr>
          <a:xfrm>
            <a:off x="893064" y="72518"/>
            <a:ext cx="10405174" cy="1326514"/>
          </a:xfrm>
        </p:spPr>
        <p:txBody>
          <a:bodyPr/>
          <a:lstStyle/>
          <a:p>
            <a:r>
              <a:rPr lang="en-US" dirty="0"/>
              <a:t>Stress calculations</a:t>
            </a:r>
            <a:endParaRPr lang="en-ZA" dirty="0"/>
          </a:p>
        </p:txBody>
      </p:sp>
      <p:sp>
        <p:nvSpPr>
          <p:cNvPr id="9" name="Content Placeholder 8">
            <a:extLst>
              <a:ext uri="{FF2B5EF4-FFF2-40B4-BE49-F238E27FC236}">
                <a16:creationId xmlns:a16="http://schemas.microsoft.com/office/drawing/2014/main" id="{ACDF41CB-3F6E-28F6-47FA-2EC97EF1F962}"/>
              </a:ext>
            </a:extLst>
          </p:cNvPr>
          <p:cNvSpPr>
            <a:spLocks noGrp="1"/>
          </p:cNvSpPr>
          <p:nvPr>
            <p:ph sz="quarter" idx="14"/>
          </p:nvPr>
        </p:nvSpPr>
        <p:spPr>
          <a:xfrm>
            <a:off x="8444138" y="2127477"/>
            <a:ext cx="2760630" cy="3687763"/>
          </a:xfrm>
        </p:spPr>
        <p:txBody>
          <a:bodyPr>
            <a:normAutofit/>
          </a:bodyPr>
          <a:lstStyle/>
          <a:p>
            <a:pPr algn="ctr"/>
            <a:r>
              <a:rPr lang="en-US" dirty="0"/>
              <a:t>The axial yield strength (36,000 psi) and shear yield strength of A36 steel (20,000 psi), as well as our designated factor of safety (4) are used to calculate the maximum stress allowed within the beam.</a:t>
            </a:r>
          </a:p>
        </p:txBody>
      </p:sp>
      <p:sp>
        <p:nvSpPr>
          <p:cNvPr id="3" name="Slide Number Placeholder 2">
            <a:extLst>
              <a:ext uri="{FF2B5EF4-FFF2-40B4-BE49-F238E27FC236}">
                <a16:creationId xmlns:a16="http://schemas.microsoft.com/office/drawing/2014/main" id="{4E7CA53E-DDF1-4712-5F1C-D0C8E61A7F41}"/>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11</a:t>
            </a:fld>
            <a:endParaRPr lang="en-US" dirty="0"/>
          </a:p>
        </p:txBody>
      </p:sp>
      <p:pic>
        <p:nvPicPr>
          <p:cNvPr id="7" name="Picture 6">
            <a:extLst>
              <a:ext uri="{FF2B5EF4-FFF2-40B4-BE49-F238E27FC236}">
                <a16:creationId xmlns:a16="http://schemas.microsoft.com/office/drawing/2014/main" id="{0EEAF0F5-99ED-C116-F72D-B504C0152764}"/>
              </a:ext>
            </a:extLst>
          </p:cNvPr>
          <p:cNvPicPr>
            <a:picLocks noChangeAspect="1"/>
          </p:cNvPicPr>
          <p:nvPr/>
        </p:nvPicPr>
        <p:blipFill>
          <a:blip r:embed="rId2"/>
          <a:stretch>
            <a:fillRect/>
          </a:stretch>
        </p:blipFill>
        <p:spPr>
          <a:xfrm>
            <a:off x="987232" y="2224099"/>
            <a:ext cx="2882987" cy="1230938"/>
          </a:xfrm>
          <a:prstGeom prst="rect">
            <a:avLst/>
          </a:prstGeom>
        </p:spPr>
      </p:pic>
      <p:pic>
        <p:nvPicPr>
          <p:cNvPr id="11" name="Picture 10">
            <a:extLst>
              <a:ext uri="{FF2B5EF4-FFF2-40B4-BE49-F238E27FC236}">
                <a16:creationId xmlns:a16="http://schemas.microsoft.com/office/drawing/2014/main" id="{AC17E37C-5B11-56DF-0FC4-EE2E0CC8514E}"/>
              </a:ext>
            </a:extLst>
          </p:cNvPr>
          <p:cNvPicPr>
            <a:picLocks noChangeAspect="1"/>
          </p:cNvPicPr>
          <p:nvPr/>
        </p:nvPicPr>
        <p:blipFill>
          <a:blip r:embed="rId3"/>
          <a:stretch>
            <a:fillRect/>
          </a:stretch>
        </p:blipFill>
        <p:spPr>
          <a:xfrm>
            <a:off x="987232" y="3756819"/>
            <a:ext cx="2882987" cy="756923"/>
          </a:xfrm>
          <a:prstGeom prst="rect">
            <a:avLst/>
          </a:prstGeom>
        </p:spPr>
      </p:pic>
      <p:pic>
        <p:nvPicPr>
          <p:cNvPr id="4" name="Picture 3">
            <a:extLst>
              <a:ext uri="{FF2B5EF4-FFF2-40B4-BE49-F238E27FC236}">
                <a16:creationId xmlns:a16="http://schemas.microsoft.com/office/drawing/2014/main" id="{66678A6A-C069-18E8-F749-52D24451D62F}"/>
              </a:ext>
            </a:extLst>
          </p:cNvPr>
          <p:cNvPicPr>
            <a:picLocks noChangeAspect="1"/>
          </p:cNvPicPr>
          <p:nvPr/>
        </p:nvPicPr>
        <p:blipFill>
          <a:blip r:embed="rId4"/>
          <a:stretch>
            <a:fillRect/>
          </a:stretch>
        </p:blipFill>
        <p:spPr>
          <a:xfrm>
            <a:off x="4203033" y="2224100"/>
            <a:ext cx="3167855" cy="1230937"/>
          </a:xfrm>
          <a:prstGeom prst="rect">
            <a:avLst/>
          </a:prstGeom>
        </p:spPr>
      </p:pic>
      <p:pic>
        <p:nvPicPr>
          <p:cNvPr id="6" name="Picture 5">
            <a:extLst>
              <a:ext uri="{FF2B5EF4-FFF2-40B4-BE49-F238E27FC236}">
                <a16:creationId xmlns:a16="http://schemas.microsoft.com/office/drawing/2014/main" id="{1B855964-968F-2FC7-C356-B60A8DE82B04}"/>
              </a:ext>
            </a:extLst>
          </p:cNvPr>
          <p:cNvPicPr>
            <a:picLocks noChangeAspect="1"/>
          </p:cNvPicPr>
          <p:nvPr/>
        </p:nvPicPr>
        <p:blipFill>
          <a:blip r:embed="rId5"/>
          <a:stretch>
            <a:fillRect/>
          </a:stretch>
        </p:blipFill>
        <p:spPr>
          <a:xfrm>
            <a:off x="4306797" y="3592898"/>
            <a:ext cx="3245592" cy="756923"/>
          </a:xfrm>
          <a:prstGeom prst="rect">
            <a:avLst/>
          </a:prstGeom>
        </p:spPr>
      </p:pic>
    </p:spTree>
    <p:extLst>
      <p:ext uri="{BB962C8B-B14F-4D97-AF65-F5344CB8AC3E}">
        <p14:creationId xmlns:p14="http://schemas.microsoft.com/office/powerpoint/2010/main" val="3070458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95A45-BF93-9A74-4333-41C576F5AA0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AD1209-B5D8-27D4-90AD-43F0BE1FAED4}"/>
              </a:ext>
            </a:extLst>
          </p:cNvPr>
          <p:cNvSpPr>
            <a:spLocks noGrp="1"/>
          </p:cNvSpPr>
          <p:nvPr>
            <p:ph type="title"/>
          </p:nvPr>
        </p:nvSpPr>
        <p:spPr>
          <a:xfrm>
            <a:off x="893064" y="72518"/>
            <a:ext cx="10405174" cy="1326514"/>
          </a:xfrm>
        </p:spPr>
        <p:txBody>
          <a:bodyPr/>
          <a:lstStyle/>
          <a:p>
            <a:r>
              <a:rPr lang="en-US" dirty="0"/>
              <a:t>Stress calculations</a:t>
            </a:r>
            <a:endParaRPr lang="en-ZA" dirty="0"/>
          </a:p>
        </p:txBody>
      </p:sp>
      <p:sp>
        <p:nvSpPr>
          <p:cNvPr id="9" name="Content Placeholder 8">
            <a:extLst>
              <a:ext uri="{FF2B5EF4-FFF2-40B4-BE49-F238E27FC236}">
                <a16:creationId xmlns:a16="http://schemas.microsoft.com/office/drawing/2014/main" id="{3FF378CE-B83C-1B3B-18DA-0F00C1BE70BE}"/>
              </a:ext>
            </a:extLst>
          </p:cNvPr>
          <p:cNvSpPr>
            <a:spLocks noGrp="1"/>
          </p:cNvSpPr>
          <p:nvPr>
            <p:ph sz="quarter" idx="14"/>
          </p:nvPr>
        </p:nvSpPr>
        <p:spPr>
          <a:xfrm>
            <a:off x="1442402" y="2648057"/>
            <a:ext cx="2760630" cy="2349540"/>
          </a:xfrm>
        </p:spPr>
        <p:txBody>
          <a:bodyPr/>
          <a:lstStyle/>
          <a:p>
            <a:pPr algn="ctr"/>
            <a:r>
              <a:rPr lang="en-US" dirty="0"/>
              <a:t>The moment of inertia, section modulus, and beam area were all calculated using the following equations, respectively</a:t>
            </a:r>
          </a:p>
        </p:txBody>
      </p:sp>
      <p:sp>
        <p:nvSpPr>
          <p:cNvPr id="3" name="Slide Number Placeholder 2">
            <a:extLst>
              <a:ext uri="{FF2B5EF4-FFF2-40B4-BE49-F238E27FC236}">
                <a16:creationId xmlns:a16="http://schemas.microsoft.com/office/drawing/2014/main" id="{65DD721D-42AA-21B9-77D7-3C41A13583F0}"/>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12</a:t>
            </a:fld>
            <a:endParaRPr lang="en-US" dirty="0"/>
          </a:p>
        </p:txBody>
      </p:sp>
      <p:pic>
        <p:nvPicPr>
          <p:cNvPr id="4" name="Picture 3">
            <a:extLst>
              <a:ext uri="{FF2B5EF4-FFF2-40B4-BE49-F238E27FC236}">
                <a16:creationId xmlns:a16="http://schemas.microsoft.com/office/drawing/2014/main" id="{ED2692E6-83B4-628E-F483-002CD8FB816F}"/>
              </a:ext>
            </a:extLst>
          </p:cNvPr>
          <p:cNvPicPr>
            <a:picLocks noChangeAspect="1"/>
          </p:cNvPicPr>
          <p:nvPr/>
        </p:nvPicPr>
        <p:blipFill>
          <a:blip r:embed="rId2"/>
          <a:stretch>
            <a:fillRect/>
          </a:stretch>
        </p:blipFill>
        <p:spPr>
          <a:xfrm>
            <a:off x="5532968" y="1428475"/>
            <a:ext cx="5216630" cy="1326514"/>
          </a:xfrm>
          <a:prstGeom prst="rect">
            <a:avLst/>
          </a:prstGeom>
        </p:spPr>
      </p:pic>
      <p:pic>
        <p:nvPicPr>
          <p:cNvPr id="12" name="Picture 11">
            <a:extLst>
              <a:ext uri="{FF2B5EF4-FFF2-40B4-BE49-F238E27FC236}">
                <a16:creationId xmlns:a16="http://schemas.microsoft.com/office/drawing/2014/main" id="{4AE002B0-EA0B-02AF-C5C1-473DDC57C405}"/>
              </a:ext>
            </a:extLst>
          </p:cNvPr>
          <p:cNvPicPr>
            <a:picLocks noChangeAspect="1"/>
          </p:cNvPicPr>
          <p:nvPr/>
        </p:nvPicPr>
        <p:blipFill>
          <a:blip r:embed="rId3"/>
          <a:stretch>
            <a:fillRect/>
          </a:stretch>
        </p:blipFill>
        <p:spPr>
          <a:xfrm>
            <a:off x="8141283" y="3178259"/>
            <a:ext cx="1735375" cy="1289136"/>
          </a:xfrm>
          <a:prstGeom prst="rect">
            <a:avLst/>
          </a:prstGeom>
        </p:spPr>
      </p:pic>
      <p:pic>
        <p:nvPicPr>
          <p:cNvPr id="14" name="Picture 13">
            <a:extLst>
              <a:ext uri="{FF2B5EF4-FFF2-40B4-BE49-F238E27FC236}">
                <a16:creationId xmlns:a16="http://schemas.microsoft.com/office/drawing/2014/main" id="{56447F30-5D80-7505-DD47-2E289E56C02E}"/>
              </a:ext>
            </a:extLst>
          </p:cNvPr>
          <p:cNvPicPr>
            <a:picLocks noChangeAspect="1"/>
          </p:cNvPicPr>
          <p:nvPr/>
        </p:nvPicPr>
        <p:blipFill>
          <a:blip r:embed="rId4"/>
          <a:stretch>
            <a:fillRect/>
          </a:stretch>
        </p:blipFill>
        <p:spPr>
          <a:xfrm>
            <a:off x="5532968" y="4822414"/>
            <a:ext cx="5522056" cy="975288"/>
          </a:xfrm>
          <a:prstGeom prst="rect">
            <a:avLst/>
          </a:prstGeom>
        </p:spPr>
      </p:pic>
    </p:spTree>
    <p:extLst>
      <p:ext uri="{BB962C8B-B14F-4D97-AF65-F5344CB8AC3E}">
        <p14:creationId xmlns:p14="http://schemas.microsoft.com/office/powerpoint/2010/main" val="3245307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4895E-9009-B61B-3D01-F75716A3859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7A5919D-EC42-16EF-F8F9-A1B31C896952}"/>
              </a:ext>
            </a:extLst>
          </p:cNvPr>
          <p:cNvSpPr>
            <a:spLocks noGrp="1"/>
          </p:cNvSpPr>
          <p:nvPr>
            <p:ph type="title"/>
          </p:nvPr>
        </p:nvSpPr>
        <p:spPr>
          <a:xfrm>
            <a:off x="893064" y="72518"/>
            <a:ext cx="10405174" cy="1326514"/>
          </a:xfrm>
        </p:spPr>
        <p:txBody>
          <a:bodyPr/>
          <a:lstStyle/>
          <a:p>
            <a:r>
              <a:rPr lang="en-US" dirty="0"/>
              <a:t>Stress calculations</a:t>
            </a:r>
            <a:endParaRPr lang="en-ZA" dirty="0"/>
          </a:p>
        </p:txBody>
      </p:sp>
      <p:sp>
        <p:nvSpPr>
          <p:cNvPr id="9" name="Content Placeholder 8">
            <a:extLst>
              <a:ext uri="{FF2B5EF4-FFF2-40B4-BE49-F238E27FC236}">
                <a16:creationId xmlns:a16="http://schemas.microsoft.com/office/drawing/2014/main" id="{0B17ACCA-D02E-C907-554E-A7C1741646B1}"/>
              </a:ext>
            </a:extLst>
          </p:cNvPr>
          <p:cNvSpPr>
            <a:spLocks noGrp="1"/>
          </p:cNvSpPr>
          <p:nvPr>
            <p:ph sz="quarter" idx="14"/>
          </p:nvPr>
        </p:nvSpPr>
        <p:spPr>
          <a:xfrm>
            <a:off x="7460437" y="1978945"/>
            <a:ext cx="2760630" cy="3687763"/>
          </a:xfrm>
        </p:spPr>
        <p:txBody>
          <a:bodyPr/>
          <a:lstStyle/>
          <a:p>
            <a:pPr algn="ctr"/>
            <a:r>
              <a:rPr lang="en-US" dirty="0"/>
              <a:t>Normal stress and shear stress were calculated based off the maximum moments and shears, respectively, the beam faced. These occurred at the start of the beam, coinciding with the “wall” it was fixed to.</a:t>
            </a:r>
          </a:p>
        </p:txBody>
      </p:sp>
      <p:sp>
        <p:nvSpPr>
          <p:cNvPr id="3" name="Slide Number Placeholder 2">
            <a:extLst>
              <a:ext uri="{FF2B5EF4-FFF2-40B4-BE49-F238E27FC236}">
                <a16:creationId xmlns:a16="http://schemas.microsoft.com/office/drawing/2014/main" id="{34B20A4F-FCB0-62F7-F5F6-60E4F14BAB6A}"/>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13</a:t>
            </a:fld>
            <a:endParaRPr lang="en-US" dirty="0"/>
          </a:p>
        </p:txBody>
      </p:sp>
      <p:pic>
        <p:nvPicPr>
          <p:cNvPr id="5" name="Picture 4">
            <a:extLst>
              <a:ext uri="{FF2B5EF4-FFF2-40B4-BE49-F238E27FC236}">
                <a16:creationId xmlns:a16="http://schemas.microsoft.com/office/drawing/2014/main" id="{2B4DC6F4-8016-170A-8E1C-9A8DF2675433}"/>
              </a:ext>
            </a:extLst>
          </p:cNvPr>
          <p:cNvPicPr>
            <a:picLocks noChangeAspect="1"/>
          </p:cNvPicPr>
          <p:nvPr/>
        </p:nvPicPr>
        <p:blipFill>
          <a:blip r:embed="rId2"/>
          <a:stretch>
            <a:fillRect/>
          </a:stretch>
        </p:blipFill>
        <p:spPr>
          <a:xfrm>
            <a:off x="2327578" y="1978945"/>
            <a:ext cx="2507644" cy="1580449"/>
          </a:xfrm>
          <a:prstGeom prst="rect">
            <a:avLst/>
          </a:prstGeom>
        </p:spPr>
      </p:pic>
      <p:pic>
        <p:nvPicPr>
          <p:cNvPr id="7" name="Picture 6">
            <a:extLst>
              <a:ext uri="{FF2B5EF4-FFF2-40B4-BE49-F238E27FC236}">
                <a16:creationId xmlns:a16="http://schemas.microsoft.com/office/drawing/2014/main" id="{194EC5CA-22A9-7BC3-06C1-B9FEFAD58B66}"/>
              </a:ext>
            </a:extLst>
          </p:cNvPr>
          <p:cNvPicPr>
            <a:picLocks noChangeAspect="1"/>
          </p:cNvPicPr>
          <p:nvPr/>
        </p:nvPicPr>
        <p:blipFill>
          <a:blip r:embed="rId3"/>
          <a:stretch>
            <a:fillRect/>
          </a:stretch>
        </p:blipFill>
        <p:spPr>
          <a:xfrm>
            <a:off x="2431235" y="3949314"/>
            <a:ext cx="2300330" cy="1456875"/>
          </a:xfrm>
          <a:prstGeom prst="rect">
            <a:avLst/>
          </a:prstGeom>
        </p:spPr>
      </p:pic>
    </p:spTree>
    <p:extLst>
      <p:ext uri="{BB962C8B-B14F-4D97-AF65-F5344CB8AC3E}">
        <p14:creationId xmlns:p14="http://schemas.microsoft.com/office/powerpoint/2010/main" val="2950997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3D040-6B19-64A2-6A9D-389E8199BB6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B936920-E664-1593-806B-3E4D9FE54256}"/>
              </a:ext>
            </a:extLst>
          </p:cNvPr>
          <p:cNvSpPr>
            <a:spLocks noGrp="1"/>
          </p:cNvSpPr>
          <p:nvPr>
            <p:ph type="title"/>
          </p:nvPr>
        </p:nvSpPr>
        <p:spPr>
          <a:xfrm>
            <a:off x="893064" y="72518"/>
            <a:ext cx="10405174" cy="1326514"/>
          </a:xfrm>
        </p:spPr>
        <p:txBody>
          <a:bodyPr/>
          <a:lstStyle/>
          <a:p>
            <a:r>
              <a:rPr lang="en-US" dirty="0"/>
              <a:t>Stress calculations</a:t>
            </a:r>
            <a:endParaRPr lang="en-ZA" dirty="0"/>
          </a:p>
        </p:txBody>
      </p:sp>
      <p:sp>
        <p:nvSpPr>
          <p:cNvPr id="3" name="Slide Number Placeholder 2">
            <a:extLst>
              <a:ext uri="{FF2B5EF4-FFF2-40B4-BE49-F238E27FC236}">
                <a16:creationId xmlns:a16="http://schemas.microsoft.com/office/drawing/2014/main" id="{1535B80A-A116-730B-8CCA-DA588FE5119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14</a:t>
            </a:fld>
            <a:endParaRPr lang="en-US" dirty="0"/>
          </a:p>
        </p:txBody>
      </p:sp>
      <p:sp>
        <p:nvSpPr>
          <p:cNvPr id="6" name="Content Placeholder 8">
            <a:extLst>
              <a:ext uri="{FF2B5EF4-FFF2-40B4-BE49-F238E27FC236}">
                <a16:creationId xmlns:a16="http://schemas.microsoft.com/office/drawing/2014/main" id="{2E275E87-4B33-036B-D0DC-71AB60B8948E}"/>
              </a:ext>
            </a:extLst>
          </p:cNvPr>
          <p:cNvSpPr txBox="1">
            <a:spLocks/>
          </p:cNvSpPr>
          <p:nvPr/>
        </p:nvSpPr>
        <p:spPr>
          <a:xfrm>
            <a:off x="1090863" y="2076761"/>
            <a:ext cx="4491308" cy="292507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Buckling was also considered as a potential source of failure, using a conservative k value of 1.0 (found in pin-pin supported beams). However, buckling was never found to be expected at any point in the beam and was not a determining factor for the shape of the beam.</a:t>
            </a:r>
          </a:p>
        </p:txBody>
      </p:sp>
      <p:pic>
        <p:nvPicPr>
          <p:cNvPr id="13" name="Picture 12">
            <a:extLst>
              <a:ext uri="{FF2B5EF4-FFF2-40B4-BE49-F238E27FC236}">
                <a16:creationId xmlns:a16="http://schemas.microsoft.com/office/drawing/2014/main" id="{800C8D22-8296-03FA-550F-5069B0009D80}"/>
              </a:ext>
            </a:extLst>
          </p:cNvPr>
          <p:cNvPicPr>
            <a:picLocks noChangeAspect="1"/>
          </p:cNvPicPr>
          <p:nvPr/>
        </p:nvPicPr>
        <p:blipFill>
          <a:blip r:embed="rId2"/>
          <a:stretch>
            <a:fillRect/>
          </a:stretch>
        </p:blipFill>
        <p:spPr>
          <a:xfrm>
            <a:off x="6316360" y="2238112"/>
            <a:ext cx="4981878" cy="2381775"/>
          </a:xfrm>
          <a:prstGeom prst="rect">
            <a:avLst/>
          </a:prstGeom>
        </p:spPr>
      </p:pic>
      <p:sp>
        <p:nvSpPr>
          <p:cNvPr id="14" name="Content Placeholder 8">
            <a:extLst>
              <a:ext uri="{FF2B5EF4-FFF2-40B4-BE49-F238E27FC236}">
                <a16:creationId xmlns:a16="http://schemas.microsoft.com/office/drawing/2014/main" id="{77745013-4792-245F-A48F-C292A61193EC}"/>
              </a:ext>
            </a:extLst>
          </p:cNvPr>
          <p:cNvSpPr txBox="1">
            <a:spLocks/>
          </p:cNvSpPr>
          <p:nvPr/>
        </p:nvSpPr>
        <p:spPr>
          <a:xfrm>
            <a:off x="1306487" y="5001831"/>
            <a:ext cx="9794650" cy="124479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A k value of 1.0 is considered a conservative estimate here, because Euler’s buckling equation would not factor the internal stresses of the flange or the stresses of the wall, which would both add rigidity to the beam and increase its critical load.</a:t>
            </a:r>
          </a:p>
        </p:txBody>
      </p:sp>
    </p:spTree>
    <p:extLst>
      <p:ext uri="{BB962C8B-B14F-4D97-AF65-F5344CB8AC3E}">
        <p14:creationId xmlns:p14="http://schemas.microsoft.com/office/powerpoint/2010/main" val="867450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BC696-C083-D321-B57C-4074ECCA6BF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173F698-2683-9320-F49E-9C6E14D90668}"/>
              </a:ext>
            </a:extLst>
          </p:cNvPr>
          <p:cNvSpPr>
            <a:spLocks noGrp="1"/>
          </p:cNvSpPr>
          <p:nvPr>
            <p:ph type="title"/>
          </p:nvPr>
        </p:nvSpPr>
        <p:spPr>
          <a:xfrm>
            <a:off x="893064" y="72518"/>
            <a:ext cx="10405174" cy="1326514"/>
          </a:xfrm>
        </p:spPr>
        <p:txBody>
          <a:bodyPr/>
          <a:lstStyle/>
          <a:p>
            <a:r>
              <a:rPr lang="en-US" dirty="0"/>
              <a:t>Stress calculations</a:t>
            </a:r>
            <a:endParaRPr lang="en-ZA" dirty="0"/>
          </a:p>
        </p:txBody>
      </p:sp>
      <p:sp>
        <p:nvSpPr>
          <p:cNvPr id="3" name="Slide Number Placeholder 2">
            <a:extLst>
              <a:ext uri="{FF2B5EF4-FFF2-40B4-BE49-F238E27FC236}">
                <a16:creationId xmlns:a16="http://schemas.microsoft.com/office/drawing/2014/main" id="{8896B089-9053-5472-15EB-FFD4A1A84675}"/>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15</a:t>
            </a:fld>
            <a:endParaRPr lang="en-US" dirty="0"/>
          </a:p>
        </p:txBody>
      </p:sp>
      <p:sp>
        <p:nvSpPr>
          <p:cNvPr id="6" name="Content Placeholder 8">
            <a:extLst>
              <a:ext uri="{FF2B5EF4-FFF2-40B4-BE49-F238E27FC236}">
                <a16:creationId xmlns:a16="http://schemas.microsoft.com/office/drawing/2014/main" id="{25A78005-6374-70B7-0F07-49E6F567A845}"/>
              </a:ext>
            </a:extLst>
          </p:cNvPr>
          <p:cNvSpPr txBox="1">
            <a:spLocks/>
          </p:cNvSpPr>
          <p:nvPr/>
        </p:nvSpPr>
        <p:spPr>
          <a:xfrm>
            <a:off x="7542998" y="3719481"/>
            <a:ext cx="3755240" cy="36877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Lastly, principal stresses were determined using the following calculations. The stress applied to the beam would only be felt in one direction, so therefore, only one normal stress value was considered. </a:t>
            </a:r>
          </a:p>
        </p:txBody>
      </p:sp>
      <p:pic>
        <p:nvPicPr>
          <p:cNvPr id="4" name="Picture 3">
            <a:extLst>
              <a:ext uri="{FF2B5EF4-FFF2-40B4-BE49-F238E27FC236}">
                <a16:creationId xmlns:a16="http://schemas.microsoft.com/office/drawing/2014/main" id="{6B5FF82D-0BAB-96A1-4DE6-6BA5B7B22318}"/>
              </a:ext>
            </a:extLst>
          </p:cNvPr>
          <p:cNvPicPr>
            <a:picLocks noChangeAspect="1"/>
          </p:cNvPicPr>
          <p:nvPr/>
        </p:nvPicPr>
        <p:blipFill>
          <a:blip r:embed="rId2"/>
          <a:stretch>
            <a:fillRect/>
          </a:stretch>
        </p:blipFill>
        <p:spPr>
          <a:xfrm>
            <a:off x="1301557" y="1685200"/>
            <a:ext cx="5069173" cy="1326513"/>
          </a:xfrm>
          <a:prstGeom prst="rect">
            <a:avLst/>
          </a:prstGeom>
        </p:spPr>
      </p:pic>
      <p:pic>
        <p:nvPicPr>
          <p:cNvPr id="10" name="Picture 9">
            <a:extLst>
              <a:ext uri="{FF2B5EF4-FFF2-40B4-BE49-F238E27FC236}">
                <a16:creationId xmlns:a16="http://schemas.microsoft.com/office/drawing/2014/main" id="{FCAD0286-8301-D7D8-F3F7-9ED5FF8CBD9C}"/>
              </a:ext>
            </a:extLst>
          </p:cNvPr>
          <p:cNvPicPr>
            <a:picLocks noChangeAspect="1"/>
          </p:cNvPicPr>
          <p:nvPr/>
        </p:nvPicPr>
        <p:blipFill>
          <a:blip r:embed="rId3"/>
          <a:stretch>
            <a:fillRect/>
          </a:stretch>
        </p:blipFill>
        <p:spPr>
          <a:xfrm>
            <a:off x="1301557" y="2990788"/>
            <a:ext cx="5069173" cy="1457387"/>
          </a:xfrm>
          <a:prstGeom prst="rect">
            <a:avLst/>
          </a:prstGeom>
        </p:spPr>
      </p:pic>
      <p:pic>
        <p:nvPicPr>
          <p:cNvPr id="12" name="Picture 11">
            <a:extLst>
              <a:ext uri="{FF2B5EF4-FFF2-40B4-BE49-F238E27FC236}">
                <a16:creationId xmlns:a16="http://schemas.microsoft.com/office/drawing/2014/main" id="{93CA95B7-938B-9C15-3342-FDC586FADDF7}"/>
              </a:ext>
            </a:extLst>
          </p:cNvPr>
          <p:cNvPicPr>
            <a:picLocks noChangeAspect="1"/>
          </p:cNvPicPr>
          <p:nvPr/>
        </p:nvPicPr>
        <p:blipFill>
          <a:blip r:embed="rId4"/>
          <a:stretch>
            <a:fillRect/>
          </a:stretch>
        </p:blipFill>
        <p:spPr>
          <a:xfrm>
            <a:off x="1765869" y="4189648"/>
            <a:ext cx="4330131" cy="1564115"/>
          </a:xfrm>
          <a:prstGeom prst="rect">
            <a:avLst/>
          </a:prstGeom>
        </p:spPr>
      </p:pic>
      <p:pic>
        <p:nvPicPr>
          <p:cNvPr id="18" name="Picture 17">
            <a:extLst>
              <a:ext uri="{FF2B5EF4-FFF2-40B4-BE49-F238E27FC236}">
                <a16:creationId xmlns:a16="http://schemas.microsoft.com/office/drawing/2014/main" id="{B74ECDE1-B458-1435-88FE-51D7C1711F8B}"/>
              </a:ext>
            </a:extLst>
          </p:cNvPr>
          <p:cNvPicPr>
            <a:picLocks noChangeAspect="1"/>
          </p:cNvPicPr>
          <p:nvPr/>
        </p:nvPicPr>
        <p:blipFill>
          <a:blip r:embed="rId5"/>
          <a:stretch>
            <a:fillRect/>
          </a:stretch>
        </p:blipFill>
        <p:spPr>
          <a:xfrm>
            <a:off x="7649639" y="339207"/>
            <a:ext cx="3541957" cy="3089793"/>
          </a:xfrm>
          <a:prstGeom prst="rect">
            <a:avLst/>
          </a:prstGeom>
        </p:spPr>
      </p:pic>
      <p:sp>
        <p:nvSpPr>
          <p:cNvPr id="19" name="TextBox 18">
            <a:extLst>
              <a:ext uri="{FF2B5EF4-FFF2-40B4-BE49-F238E27FC236}">
                <a16:creationId xmlns:a16="http://schemas.microsoft.com/office/drawing/2014/main" id="{73DEB1E2-693E-6415-4173-B501EA8EDB32}"/>
              </a:ext>
            </a:extLst>
          </p:cNvPr>
          <p:cNvSpPr txBox="1"/>
          <p:nvPr/>
        </p:nvSpPr>
        <p:spPr>
          <a:xfrm>
            <a:off x="10006566" y="2880908"/>
            <a:ext cx="1523174" cy="261610"/>
          </a:xfrm>
          <a:prstGeom prst="rect">
            <a:avLst/>
          </a:prstGeom>
          <a:noFill/>
        </p:spPr>
        <p:txBody>
          <a:bodyPr wrap="none" rtlCol="0">
            <a:spAutoFit/>
          </a:bodyPr>
          <a:lstStyle/>
          <a:p>
            <a:r>
              <a:rPr lang="en-US" sz="1100" i="1" dirty="0"/>
              <a:t>Civil Engineer Online</a:t>
            </a:r>
          </a:p>
        </p:txBody>
      </p:sp>
    </p:spTree>
    <p:extLst>
      <p:ext uri="{BB962C8B-B14F-4D97-AF65-F5344CB8AC3E}">
        <p14:creationId xmlns:p14="http://schemas.microsoft.com/office/powerpoint/2010/main" val="2785251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6A475-8405-504D-6941-DDC8D365EEA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9B3C699-6D86-C3AE-7158-DA3082161111}"/>
              </a:ext>
            </a:extLst>
          </p:cNvPr>
          <p:cNvSpPr>
            <a:spLocks noGrp="1"/>
          </p:cNvSpPr>
          <p:nvPr>
            <p:ph type="title"/>
          </p:nvPr>
        </p:nvSpPr>
        <p:spPr>
          <a:xfrm>
            <a:off x="893064" y="72518"/>
            <a:ext cx="10405174" cy="1326514"/>
          </a:xfrm>
        </p:spPr>
        <p:txBody>
          <a:bodyPr/>
          <a:lstStyle/>
          <a:p>
            <a:r>
              <a:rPr lang="en-US" dirty="0"/>
              <a:t>optimization</a:t>
            </a:r>
            <a:endParaRPr lang="en-ZA" dirty="0"/>
          </a:p>
        </p:txBody>
      </p:sp>
      <p:sp>
        <p:nvSpPr>
          <p:cNvPr id="3" name="Slide Number Placeholder 2">
            <a:extLst>
              <a:ext uri="{FF2B5EF4-FFF2-40B4-BE49-F238E27FC236}">
                <a16:creationId xmlns:a16="http://schemas.microsoft.com/office/drawing/2014/main" id="{8063A97D-DBA6-0D44-499A-2CB7101C4628}"/>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16</a:t>
            </a:fld>
            <a:endParaRPr lang="en-US" dirty="0"/>
          </a:p>
        </p:txBody>
      </p:sp>
      <p:sp>
        <p:nvSpPr>
          <p:cNvPr id="6" name="Content Placeholder 8">
            <a:extLst>
              <a:ext uri="{FF2B5EF4-FFF2-40B4-BE49-F238E27FC236}">
                <a16:creationId xmlns:a16="http://schemas.microsoft.com/office/drawing/2014/main" id="{BBDFA32F-922B-C3A5-C406-172F6C5CBB95}"/>
              </a:ext>
            </a:extLst>
          </p:cNvPr>
          <p:cNvSpPr txBox="1">
            <a:spLocks/>
          </p:cNvSpPr>
          <p:nvPr/>
        </p:nvSpPr>
        <p:spPr>
          <a:xfrm>
            <a:off x="1350853" y="1978945"/>
            <a:ext cx="3755240" cy="36877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Each of the dimensions of the beam (height, width, flange thickness, web thickness) can be changed, and doing so will change both the area and strength of the beam. This means that this optimization problem cannot be solved with simple algebra and instead would require guessing and checking different dimensions.</a:t>
            </a:r>
          </a:p>
        </p:txBody>
      </p:sp>
      <p:pic>
        <p:nvPicPr>
          <p:cNvPr id="2" name="Picture 1">
            <a:extLst>
              <a:ext uri="{FF2B5EF4-FFF2-40B4-BE49-F238E27FC236}">
                <a16:creationId xmlns:a16="http://schemas.microsoft.com/office/drawing/2014/main" id="{A7F3BABA-A402-ACAC-A95F-6B2CCD6764AB}"/>
              </a:ext>
            </a:extLst>
          </p:cNvPr>
          <p:cNvPicPr>
            <a:picLocks noChangeAspect="1"/>
          </p:cNvPicPr>
          <p:nvPr/>
        </p:nvPicPr>
        <p:blipFill>
          <a:blip r:embed="rId2"/>
          <a:stretch>
            <a:fillRect/>
          </a:stretch>
        </p:blipFill>
        <p:spPr>
          <a:xfrm>
            <a:off x="5641875" y="2089679"/>
            <a:ext cx="5656363" cy="2924440"/>
          </a:xfrm>
          <a:prstGeom prst="rect">
            <a:avLst/>
          </a:prstGeom>
        </p:spPr>
      </p:pic>
    </p:spTree>
    <p:extLst>
      <p:ext uri="{BB962C8B-B14F-4D97-AF65-F5344CB8AC3E}">
        <p14:creationId xmlns:p14="http://schemas.microsoft.com/office/powerpoint/2010/main" val="3771364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0EEDA-E4C8-1EED-3C34-224D08D8EB8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D948672-C430-E9FC-3E62-44438018B405}"/>
              </a:ext>
            </a:extLst>
          </p:cNvPr>
          <p:cNvSpPr>
            <a:spLocks noGrp="1"/>
          </p:cNvSpPr>
          <p:nvPr>
            <p:ph type="title"/>
          </p:nvPr>
        </p:nvSpPr>
        <p:spPr>
          <a:xfrm>
            <a:off x="893064" y="72518"/>
            <a:ext cx="10405174" cy="1326514"/>
          </a:xfrm>
        </p:spPr>
        <p:txBody>
          <a:bodyPr/>
          <a:lstStyle/>
          <a:p>
            <a:r>
              <a:rPr lang="en-US" dirty="0"/>
              <a:t>optimization</a:t>
            </a:r>
            <a:endParaRPr lang="en-ZA" dirty="0"/>
          </a:p>
        </p:txBody>
      </p:sp>
      <p:sp>
        <p:nvSpPr>
          <p:cNvPr id="3" name="Slide Number Placeholder 2">
            <a:extLst>
              <a:ext uri="{FF2B5EF4-FFF2-40B4-BE49-F238E27FC236}">
                <a16:creationId xmlns:a16="http://schemas.microsoft.com/office/drawing/2014/main" id="{AA0901E0-6F10-C87B-C769-C6B383AECAF1}"/>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17</a:t>
            </a:fld>
            <a:endParaRPr lang="en-US" dirty="0"/>
          </a:p>
        </p:txBody>
      </p:sp>
      <p:sp>
        <p:nvSpPr>
          <p:cNvPr id="6" name="Content Placeholder 8">
            <a:extLst>
              <a:ext uri="{FF2B5EF4-FFF2-40B4-BE49-F238E27FC236}">
                <a16:creationId xmlns:a16="http://schemas.microsoft.com/office/drawing/2014/main" id="{A6011848-1322-86EE-F339-0878607BA5A4}"/>
              </a:ext>
            </a:extLst>
          </p:cNvPr>
          <p:cNvSpPr txBox="1">
            <a:spLocks/>
          </p:cNvSpPr>
          <p:nvPr/>
        </p:nvSpPr>
        <p:spPr>
          <a:xfrm>
            <a:off x="7542998" y="1237660"/>
            <a:ext cx="3755240" cy="230764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Luckily, computational tools exist which can automate this task. Microsoft Excel contains an add on which can perform these solving operations, and is what was used to determine the dimensions of the beam.</a:t>
            </a:r>
          </a:p>
        </p:txBody>
      </p:sp>
      <p:pic>
        <p:nvPicPr>
          <p:cNvPr id="5" name="Picture 4">
            <a:extLst>
              <a:ext uri="{FF2B5EF4-FFF2-40B4-BE49-F238E27FC236}">
                <a16:creationId xmlns:a16="http://schemas.microsoft.com/office/drawing/2014/main" id="{A54760CB-CCA6-BE3C-4E8B-3AF8BEBCCD80}"/>
              </a:ext>
            </a:extLst>
          </p:cNvPr>
          <p:cNvPicPr>
            <a:picLocks noChangeAspect="1"/>
          </p:cNvPicPr>
          <p:nvPr/>
        </p:nvPicPr>
        <p:blipFill>
          <a:blip r:embed="rId2"/>
          <a:stretch>
            <a:fillRect/>
          </a:stretch>
        </p:blipFill>
        <p:spPr>
          <a:xfrm>
            <a:off x="1755296" y="1571590"/>
            <a:ext cx="4340355" cy="4502473"/>
          </a:xfrm>
          <a:prstGeom prst="rect">
            <a:avLst/>
          </a:prstGeom>
        </p:spPr>
      </p:pic>
      <p:sp>
        <p:nvSpPr>
          <p:cNvPr id="7" name="Content Placeholder 8">
            <a:extLst>
              <a:ext uri="{FF2B5EF4-FFF2-40B4-BE49-F238E27FC236}">
                <a16:creationId xmlns:a16="http://schemas.microsoft.com/office/drawing/2014/main" id="{9C360018-4341-7831-7D9F-DCC7A908888A}"/>
              </a:ext>
            </a:extLst>
          </p:cNvPr>
          <p:cNvSpPr txBox="1">
            <a:spLocks/>
          </p:cNvSpPr>
          <p:nvPr/>
        </p:nvSpPr>
        <p:spPr>
          <a:xfrm>
            <a:off x="7542998" y="3564716"/>
            <a:ext cx="3755240" cy="2681906"/>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By setting objective to minimize the area of the beam, setting constraints based on the constraints of the project, and allowing the program to change the four dimensions of the beam, an optimized beam shape was found.</a:t>
            </a:r>
          </a:p>
        </p:txBody>
      </p:sp>
    </p:spTree>
    <p:extLst>
      <p:ext uri="{BB962C8B-B14F-4D97-AF65-F5344CB8AC3E}">
        <p14:creationId xmlns:p14="http://schemas.microsoft.com/office/powerpoint/2010/main" val="947440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37C96-B462-7C85-E9CA-3EA8FB87954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40DE4BC-79BC-0699-D6CE-9D022A710CDD}"/>
              </a:ext>
            </a:extLst>
          </p:cNvPr>
          <p:cNvSpPr>
            <a:spLocks noGrp="1"/>
          </p:cNvSpPr>
          <p:nvPr>
            <p:ph type="title"/>
          </p:nvPr>
        </p:nvSpPr>
        <p:spPr>
          <a:xfrm>
            <a:off x="893064" y="72518"/>
            <a:ext cx="10405174" cy="1326514"/>
          </a:xfrm>
        </p:spPr>
        <p:txBody>
          <a:bodyPr/>
          <a:lstStyle/>
          <a:p>
            <a:r>
              <a:rPr lang="en-US" dirty="0"/>
              <a:t>optimization</a:t>
            </a:r>
            <a:endParaRPr lang="en-ZA" dirty="0"/>
          </a:p>
        </p:txBody>
      </p:sp>
      <p:sp>
        <p:nvSpPr>
          <p:cNvPr id="3" name="Slide Number Placeholder 2">
            <a:extLst>
              <a:ext uri="{FF2B5EF4-FFF2-40B4-BE49-F238E27FC236}">
                <a16:creationId xmlns:a16="http://schemas.microsoft.com/office/drawing/2014/main" id="{36A38023-5A6B-0520-FA55-5BAAA816875E}"/>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18</a:t>
            </a:fld>
            <a:endParaRPr lang="en-US" dirty="0"/>
          </a:p>
        </p:txBody>
      </p:sp>
      <p:sp>
        <p:nvSpPr>
          <p:cNvPr id="6" name="Content Placeholder 8">
            <a:extLst>
              <a:ext uri="{FF2B5EF4-FFF2-40B4-BE49-F238E27FC236}">
                <a16:creationId xmlns:a16="http://schemas.microsoft.com/office/drawing/2014/main" id="{CA653714-8216-3827-64C4-4FDB3CE7EA65}"/>
              </a:ext>
            </a:extLst>
          </p:cNvPr>
          <p:cNvSpPr txBox="1">
            <a:spLocks/>
          </p:cNvSpPr>
          <p:nvPr/>
        </p:nvSpPr>
        <p:spPr>
          <a:xfrm>
            <a:off x="500513" y="2099189"/>
            <a:ext cx="3755240" cy="3447276"/>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To properly automate this process, however, all proceeding necessary calculations had to also be automated. This was also done in excel, meaning the dimensions were able to be seamlessly modified while still returning accurate stress figures.</a:t>
            </a:r>
          </a:p>
        </p:txBody>
      </p:sp>
      <p:pic>
        <p:nvPicPr>
          <p:cNvPr id="4" name="Picture 3">
            <a:extLst>
              <a:ext uri="{FF2B5EF4-FFF2-40B4-BE49-F238E27FC236}">
                <a16:creationId xmlns:a16="http://schemas.microsoft.com/office/drawing/2014/main" id="{DE5869BF-E84C-8A90-F017-26D8968720E8}"/>
              </a:ext>
            </a:extLst>
          </p:cNvPr>
          <p:cNvPicPr>
            <a:picLocks noChangeAspect="1"/>
          </p:cNvPicPr>
          <p:nvPr/>
        </p:nvPicPr>
        <p:blipFill>
          <a:blip r:embed="rId2"/>
          <a:stretch>
            <a:fillRect/>
          </a:stretch>
        </p:blipFill>
        <p:spPr>
          <a:xfrm>
            <a:off x="4411579" y="910992"/>
            <a:ext cx="7652084" cy="2376394"/>
          </a:xfrm>
          <a:prstGeom prst="rect">
            <a:avLst/>
          </a:prstGeom>
        </p:spPr>
      </p:pic>
      <p:pic>
        <p:nvPicPr>
          <p:cNvPr id="10" name="Picture 9">
            <a:extLst>
              <a:ext uri="{FF2B5EF4-FFF2-40B4-BE49-F238E27FC236}">
                <a16:creationId xmlns:a16="http://schemas.microsoft.com/office/drawing/2014/main" id="{5B8CA18F-3285-CF4F-23D7-20ED79814696}"/>
              </a:ext>
            </a:extLst>
          </p:cNvPr>
          <p:cNvPicPr>
            <a:picLocks noChangeAspect="1"/>
          </p:cNvPicPr>
          <p:nvPr/>
        </p:nvPicPr>
        <p:blipFill>
          <a:blip r:embed="rId3"/>
          <a:stretch>
            <a:fillRect/>
          </a:stretch>
        </p:blipFill>
        <p:spPr>
          <a:xfrm>
            <a:off x="4372876" y="3570615"/>
            <a:ext cx="7690787" cy="2541427"/>
          </a:xfrm>
          <a:prstGeom prst="rect">
            <a:avLst/>
          </a:prstGeom>
        </p:spPr>
      </p:pic>
    </p:spTree>
    <p:extLst>
      <p:ext uri="{BB962C8B-B14F-4D97-AF65-F5344CB8AC3E}">
        <p14:creationId xmlns:p14="http://schemas.microsoft.com/office/powerpoint/2010/main" val="726622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4945-DB51-F5B9-169F-80BD3E476B9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C166AB5-B908-AB67-AECB-CCD49DAEBEF4}"/>
              </a:ext>
            </a:extLst>
          </p:cNvPr>
          <p:cNvSpPr>
            <a:spLocks noGrp="1"/>
          </p:cNvSpPr>
          <p:nvPr>
            <p:ph type="title"/>
          </p:nvPr>
        </p:nvSpPr>
        <p:spPr>
          <a:xfrm>
            <a:off x="893064" y="72518"/>
            <a:ext cx="10405174" cy="1326514"/>
          </a:xfrm>
        </p:spPr>
        <p:txBody>
          <a:bodyPr/>
          <a:lstStyle/>
          <a:p>
            <a:r>
              <a:rPr lang="en-US" dirty="0"/>
              <a:t>Solid-constant beam</a:t>
            </a:r>
            <a:endParaRPr lang="en-ZA" dirty="0"/>
          </a:p>
        </p:txBody>
      </p:sp>
      <p:sp>
        <p:nvSpPr>
          <p:cNvPr id="3" name="Slide Number Placeholder 2">
            <a:extLst>
              <a:ext uri="{FF2B5EF4-FFF2-40B4-BE49-F238E27FC236}">
                <a16:creationId xmlns:a16="http://schemas.microsoft.com/office/drawing/2014/main" id="{054473B4-D1E4-90F6-9164-C7140504F7A6}"/>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19</a:t>
            </a:fld>
            <a:endParaRPr lang="en-US" dirty="0"/>
          </a:p>
        </p:txBody>
      </p:sp>
      <p:sp>
        <p:nvSpPr>
          <p:cNvPr id="6" name="Content Placeholder 8">
            <a:extLst>
              <a:ext uri="{FF2B5EF4-FFF2-40B4-BE49-F238E27FC236}">
                <a16:creationId xmlns:a16="http://schemas.microsoft.com/office/drawing/2014/main" id="{9F921FCD-8A42-3C3B-7CFD-BFD703BEEA04}"/>
              </a:ext>
            </a:extLst>
          </p:cNvPr>
          <p:cNvSpPr txBox="1">
            <a:spLocks/>
          </p:cNvSpPr>
          <p:nvPr/>
        </p:nvSpPr>
        <p:spPr>
          <a:xfrm>
            <a:off x="7077776" y="1520696"/>
            <a:ext cx="3755240" cy="3447276"/>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Thus, the following dimensions were found for the solid constant beam:</a:t>
            </a:r>
          </a:p>
          <a:p>
            <a:pPr algn="ctr"/>
            <a:endParaRPr lang="en-US" dirty="0"/>
          </a:p>
        </p:txBody>
      </p:sp>
      <p:pic>
        <p:nvPicPr>
          <p:cNvPr id="5" name="Picture 4">
            <a:extLst>
              <a:ext uri="{FF2B5EF4-FFF2-40B4-BE49-F238E27FC236}">
                <a16:creationId xmlns:a16="http://schemas.microsoft.com/office/drawing/2014/main" id="{FC1D3338-C54D-EABD-0318-EA9656EB9489}"/>
              </a:ext>
            </a:extLst>
          </p:cNvPr>
          <p:cNvPicPr>
            <a:picLocks noChangeAspect="1"/>
          </p:cNvPicPr>
          <p:nvPr/>
        </p:nvPicPr>
        <p:blipFill>
          <a:blip r:embed="rId2"/>
          <a:stretch>
            <a:fillRect/>
          </a:stretch>
        </p:blipFill>
        <p:spPr>
          <a:xfrm>
            <a:off x="893064" y="1873005"/>
            <a:ext cx="5697995" cy="4030493"/>
          </a:xfrm>
          <a:prstGeom prst="rect">
            <a:avLst/>
          </a:prstGeom>
        </p:spPr>
      </p:pic>
      <p:sp>
        <p:nvSpPr>
          <p:cNvPr id="7" name="TextBox 6">
            <a:extLst>
              <a:ext uri="{FF2B5EF4-FFF2-40B4-BE49-F238E27FC236}">
                <a16:creationId xmlns:a16="http://schemas.microsoft.com/office/drawing/2014/main" id="{2D3ECCB1-999B-34E8-832E-F6E0F0D96A62}"/>
              </a:ext>
            </a:extLst>
          </p:cNvPr>
          <p:cNvSpPr txBox="1"/>
          <p:nvPr/>
        </p:nvSpPr>
        <p:spPr>
          <a:xfrm>
            <a:off x="8028700" y="2617131"/>
            <a:ext cx="1853392" cy="369332"/>
          </a:xfrm>
          <a:prstGeom prst="rect">
            <a:avLst/>
          </a:prstGeom>
          <a:noFill/>
        </p:spPr>
        <p:txBody>
          <a:bodyPr wrap="none" rtlCol="0">
            <a:spAutoFit/>
          </a:bodyPr>
          <a:lstStyle/>
          <a:p>
            <a:pPr algn="ctr"/>
            <a:r>
              <a:rPr lang="en-US" dirty="0"/>
              <a:t>Height: </a:t>
            </a:r>
            <a:r>
              <a:rPr lang="en-US" b="1" dirty="0"/>
              <a:t>35.44 in</a:t>
            </a:r>
          </a:p>
        </p:txBody>
      </p:sp>
      <p:sp>
        <p:nvSpPr>
          <p:cNvPr id="9" name="TextBox 8">
            <a:extLst>
              <a:ext uri="{FF2B5EF4-FFF2-40B4-BE49-F238E27FC236}">
                <a16:creationId xmlns:a16="http://schemas.microsoft.com/office/drawing/2014/main" id="{8157404A-800B-77CB-6BBE-19B583F51453}"/>
              </a:ext>
            </a:extLst>
          </p:cNvPr>
          <p:cNvSpPr txBox="1"/>
          <p:nvPr/>
        </p:nvSpPr>
        <p:spPr>
          <a:xfrm>
            <a:off x="8166215" y="2982452"/>
            <a:ext cx="1648208" cy="369332"/>
          </a:xfrm>
          <a:prstGeom prst="rect">
            <a:avLst/>
          </a:prstGeom>
          <a:noFill/>
        </p:spPr>
        <p:txBody>
          <a:bodyPr wrap="none" rtlCol="0">
            <a:spAutoFit/>
          </a:bodyPr>
          <a:lstStyle/>
          <a:p>
            <a:pPr algn="ctr"/>
            <a:r>
              <a:rPr lang="en-US" dirty="0"/>
              <a:t>Base: </a:t>
            </a:r>
            <a:r>
              <a:rPr lang="en-US" b="1" dirty="0"/>
              <a:t>49.29 in</a:t>
            </a:r>
          </a:p>
        </p:txBody>
      </p:sp>
      <p:sp>
        <p:nvSpPr>
          <p:cNvPr id="11" name="TextBox 10">
            <a:extLst>
              <a:ext uri="{FF2B5EF4-FFF2-40B4-BE49-F238E27FC236}">
                <a16:creationId xmlns:a16="http://schemas.microsoft.com/office/drawing/2014/main" id="{A9E8207D-FF25-18F5-48BA-758D0B8B3CD5}"/>
              </a:ext>
            </a:extLst>
          </p:cNvPr>
          <p:cNvSpPr txBox="1"/>
          <p:nvPr/>
        </p:nvSpPr>
        <p:spPr>
          <a:xfrm>
            <a:off x="7460124" y="3343762"/>
            <a:ext cx="3060390" cy="369332"/>
          </a:xfrm>
          <a:prstGeom prst="rect">
            <a:avLst/>
          </a:prstGeom>
          <a:noFill/>
        </p:spPr>
        <p:txBody>
          <a:bodyPr wrap="none" rtlCol="0">
            <a:spAutoFit/>
          </a:bodyPr>
          <a:lstStyle/>
          <a:p>
            <a:pPr algn="ctr"/>
            <a:r>
              <a:rPr lang="en-US" dirty="0"/>
              <a:t>Flange Thickness: </a:t>
            </a:r>
            <a:r>
              <a:rPr lang="en-US" b="1" dirty="0"/>
              <a:t>0.5000 in</a:t>
            </a:r>
          </a:p>
        </p:txBody>
      </p:sp>
      <p:sp>
        <p:nvSpPr>
          <p:cNvPr id="12" name="TextBox 11">
            <a:extLst>
              <a:ext uri="{FF2B5EF4-FFF2-40B4-BE49-F238E27FC236}">
                <a16:creationId xmlns:a16="http://schemas.microsoft.com/office/drawing/2014/main" id="{E7592AB6-0584-7495-B3CC-63CCD9626CEF}"/>
              </a:ext>
            </a:extLst>
          </p:cNvPr>
          <p:cNvSpPr txBox="1"/>
          <p:nvPr/>
        </p:nvSpPr>
        <p:spPr>
          <a:xfrm>
            <a:off x="7604898" y="3703585"/>
            <a:ext cx="2700996" cy="369332"/>
          </a:xfrm>
          <a:prstGeom prst="rect">
            <a:avLst/>
          </a:prstGeom>
          <a:noFill/>
        </p:spPr>
        <p:txBody>
          <a:bodyPr wrap="none" rtlCol="0">
            <a:spAutoFit/>
          </a:bodyPr>
          <a:lstStyle/>
          <a:p>
            <a:pPr algn="ctr"/>
            <a:r>
              <a:rPr lang="en-US" dirty="0"/>
              <a:t>Web Thickness: </a:t>
            </a:r>
            <a:r>
              <a:rPr lang="en-US" b="1" dirty="0"/>
              <a:t>4.254 in</a:t>
            </a:r>
          </a:p>
        </p:txBody>
      </p:sp>
      <p:sp>
        <p:nvSpPr>
          <p:cNvPr id="13" name="TextBox 12">
            <a:extLst>
              <a:ext uri="{FF2B5EF4-FFF2-40B4-BE49-F238E27FC236}">
                <a16:creationId xmlns:a16="http://schemas.microsoft.com/office/drawing/2014/main" id="{558D759A-D623-D26B-B1B5-38F77B1DB2E4}"/>
              </a:ext>
            </a:extLst>
          </p:cNvPr>
          <p:cNvSpPr txBox="1"/>
          <p:nvPr/>
        </p:nvSpPr>
        <p:spPr>
          <a:xfrm>
            <a:off x="8131301" y="4072917"/>
            <a:ext cx="1718034" cy="369332"/>
          </a:xfrm>
          <a:prstGeom prst="rect">
            <a:avLst/>
          </a:prstGeom>
          <a:noFill/>
        </p:spPr>
        <p:txBody>
          <a:bodyPr wrap="none" rtlCol="0">
            <a:spAutoFit/>
          </a:bodyPr>
          <a:lstStyle/>
          <a:p>
            <a:pPr algn="ctr"/>
            <a:r>
              <a:rPr lang="en-US" dirty="0"/>
              <a:t>Area: </a:t>
            </a:r>
            <a:r>
              <a:rPr lang="en-US" b="1" dirty="0"/>
              <a:t>195.8 in²</a:t>
            </a:r>
          </a:p>
        </p:txBody>
      </p:sp>
      <p:sp>
        <p:nvSpPr>
          <p:cNvPr id="14" name="TextBox 13">
            <a:extLst>
              <a:ext uri="{FF2B5EF4-FFF2-40B4-BE49-F238E27FC236}">
                <a16:creationId xmlns:a16="http://schemas.microsoft.com/office/drawing/2014/main" id="{2A9C195A-B19C-AD2B-7E90-7735D8C6B422}"/>
              </a:ext>
            </a:extLst>
          </p:cNvPr>
          <p:cNvSpPr txBox="1"/>
          <p:nvPr/>
        </p:nvSpPr>
        <p:spPr>
          <a:xfrm>
            <a:off x="7432840" y="4424718"/>
            <a:ext cx="3114955" cy="369332"/>
          </a:xfrm>
          <a:prstGeom prst="rect">
            <a:avLst/>
          </a:prstGeom>
          <a:noFill/>
        </p:spPr>
        <p:txBody>
          <a:bodyPr wrap="none" rtlCol="0">
            <a:spAutoFit/>
          </a:bodyPr>
          <a:lstStyle/>
          <a:p>
            <a:pPr algn="ctr"/>
            <a:r>
              <a:rPr lang="en-US" dirty="0"/>
              <a:t>Section Modulus: </a:t>
            </a:r>
            <a:r>
              <a:rPr lang="en-US" b="1" dirty="0"/>
              <a:t>15,330 in³</a:t>
            </a:r>
          </a:p>
        </p:txBody>
      </p:sp>
      <p:sp>
        <p:nvSpPr>
          <p:cNvPr id="15" name="TextBox 14">
            <a:extLst>
              <a:ext uri="{FF2B5EF4-FFF2-40B4-BE49-F238E27FC236}">
                <a16:creationId xmlns:a16="http://schemas.microsoft.com/office/drawing/2014/main" id="{365642C7-F8D1-B56B-4E3E-878E595E3FFD}"/>
              </a:ext>
            </a:extLst>
          </p:cNvPr>
          <p:cNvSpPr txBox="1"/>
          <p:nvPr/>
        </p:nvSpPr>
        <p:spPr>
          <a:xfrm>
            <a:off x="7207072" y="4784541"/>
            <a:ext cx="3566490" cy="369332"/>
          </a:xfrm>
          <a:prstGeom prst="rect">
            <a:avLst/>
          </a:prstGeom>
          <a:noFill/>
        </p:spPr>
        <p:txBody>
          <a:bodyPr wrap="none" rtlCol="0">
            <a:spAutoFit/>
          </a:bodyPr>
          <a:lstStyle/>
          <a:p>
            <a:pPr algn="ctr"/>
            <a:r>
              <a:rPr lang="en-US" dirty="0"/>
              <a:t>Moment of Inertia: </a:t>
            </a:r>
            <a:r>
              <a:rPr lang="en-US" b="1" dirty="0"/>
              <a:t>271,600 in^4</a:t>
            </a:r>
          </a:p>
        </p:txBody>
      </p:sp>
      <p:sp>
        <p:nvSpPr>
          <p:cNvPr id="16" name="TextBox 15">
            <a:extLst>
              <a:ext uri="{FF2B5EF4-FFF2-40B4-BE49-F238E27FC236}">
                <a16:creationId xmlns:a16="http://schemas.microsoft.com/office/drawing/2014/main" id="{B1B28206-7C56-332D-18BB-853575521822}"/>
              </a:ext>
            </a:extLst>
          </p:cNvPr>
          <p:cNvSpPr txBox="1"/>
          <p:nvPr/>
        </p:nvSpPr>
        <p:spPr>
          <a:xfrm>
            <a:off x="7908965" y="5136342"/>
            <a:ext cx="2162708" cy="369332"/>
          </a:xfrm>
          <a:prstGeom prst="rect">
            <a:avLst/>
          </a:prstGeom>
          <a:noFill/>
        </p:spPr>
        <p:txBody>
          <a:bodyPr wrap="none" rtlCol="0">
            <a:spAutoFit/>
          </a:bodyPr>
          <a:lstStyle/>
          <a:p>
            <a:pPr algn="ctr"/>
            <a:r>
              <a:rPr lang="en-US" dirty="0"/>
              <a:t>Volume: </a:t>
            </a:r>
            <a:r>
              <a:rPr lang="en-US" b="1" dirty="0"/>
              <a:t>46,990 in³</a:t>
            </a:r>
          </a:p>
        </p:txBody>
      </p:sp>
      <p:sp>
        <p:nvSpPr>
          <p:cNvPr id="17" name="TextBox 16">
            <a:extLst>
              <a:ext uri="{FF2B5EF4-FFF2-40B4-BE49-F238E27FC236}">
                <a16:creationId xmlns:a16="http://schemas.microsoft.com/office/drawing/2014/main" id="{D4C217D0-AC81-A2A6-8724-837F3E7A4121}"/>
              </a:ext>
            </a:extLst>
          </p:cNvPr>
          <p:cNvSpPr txBox="1"/>
          <p:nvPr/>
        </p:nvSpPr>
        <p:spPr>
          <a:xfrm>
            <a:off x="7931877" y="5513696"/>
            <a:ext cx="2047035" cy="369332"/>
          </a:xfrm>
          <a:prstGeom prst="rect">
            <a:avLst/>
          </a:prstGeom>
          <a:noFill/>
        </p:spPr>
        <p:txBody>
          <a:bodyPr wrap="none" rtlCol="0">
            <a:spAutoFit/>
          </a:bodyPr>
          <a:lstStyle/>
          <a:p>
            <a:pPr algn="ctr"/>
            <a:r>
              <a:rPr lang="en-US" dirty="0"/>
              <a:t>Weight: </a:t>
            </a:r>
            <a:r>
              <a:rPr lang="en-US" b="1" dirty="0"/>
              <a:t>13,340 lb</a:t>
            </a:r>
          </a:p>
        </p:txBody>
      </p:sp>
    </p:spTree>
    <p:extLst>
      <p:ext uri="{BB962C8B-B14F-4D97-AF65-F5344CB8AC3E}">
        <p14:creationId xmlns:p14="http://schemas.microsoft.com/office/powerpoint/2010/main" val="1907930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71D3D-78E6-4BCE-8CEC-7D5F738A8D0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08BDCC0-6DB0-B9BF-5132-AE52538EF021}"/>
              </a:ext>
            </a:extLst>
          </p:cNvPr>
          <p:cNvSpPr>
            <a:spLocks noGrp="1"/>
          </p:cNvSpPr>
          <p:nvPr>
            <p:ph type="title"/>
          </p:nvPr>
        </p:nvSpPr>
        <p:spPr>
          <a:xfrm>
            <a:off x="893064" y="72518"/>
            <a:ext cx="10405174" cy="1326514"/>
          </a:xfrm>
        </p:spPr>
        <p:txBody>
          <a:bodyPr/>
          <a:lstStyle/>
          <a:p>
            <a:r>
              <a:rPr lang="en-US" dirty="0"/>
              <a:t>Hollow constant beam</a:t>
            </a:r>
            <a:endParaRPr lang="en-ZA" dirty="0"/>
          </a:p>
        </p:txBody>
      </p:sp>
      <p:sp>
        <p:nvSpPr>
          <p:cNvPr id="3" name="Slide Number Placeholder 2">
            <a:extLst>
              <a:ext uri="{FF2B5EF4-FFF2-40B4-BE49-F238E27FC236}">
                <a16:creationId xmlns:a16="http://schemas.microsoft.com/office/drawing/2014/main" id="{1870BCDC-4227-D584-8F36-5B1285AD8456}"/>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20</a:t>
            </a:fld>
            <a:endParaRPr lang="en-US" dirty="0"/>
          </a:p>
        </p:txBody>
      </p:sp>
      <p:sp>
        <p:nvSpPr>
          <p:cNvPr id="6" name="Content Placeholder 8">
            <a:extLst>
              <a:ext uri="{FF2B5EF4-FFF2-40B4-BE49-F238E27FC236}">
                <a16:creationId xmlns:a16="http://schemas.microsoft.com/office/drawing/2014/main" id="{860AB7C8-D804-1ED8-B3D7-32309B136107}"/>
              </a:ext>
            </a:extLst>
          </p:cNvPr>
          <p:cNvSpPr txBox="1">
            <a:spLocks/>
          </p:cNvSpPr>
          <p:nvPr/>
        </p:nvSpPr>
        <p:spPr>
          <a:xfrm>
            <a:off x="1703780" y="1548703"/>
            <a:ext cx="3755240" cy="4697919"/>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These simulations were unable to find a hollow constant design that was stronger than the solid constant beam already derived. If the beam’s web were to be split in two across the middle to allow for a “gap”, the normal and shear stress characteristics would stay largely the same throughout the beam, however the risk for buckling would only increase due to the thinner supporting members.</a:t>
            </a:r>
          </a:p>
        </p:txBody>
      </p:sp>
      <p:sp>
        <p:nvSpPr>
          <p:cNvPr id="2" name="Content Placeholder 8">
            <a:extLst>
              <a:ext uri="{FF2B5EF4-FFF2-40B4-BE49-F238E27FC236}">
                <a16:creationId xmlns:a16="http://schemas.microsoft.com/office/drawing/2014/main" id="{4A0457B2-0F51-D03F-5FA8-20DED7201747}"/>
              </a:ext>
            </a:extLst>
          </p:cNvPr>
          <p:cNvSpPr txBox="1">
            <a:spLocks/>
          </p:cNvSpPr>
          <p:nvPr/>
        </p:nvSpPr>
        <p:spPr>
          <a:xfrm>
            <a:off x="6732982" y="2851234"/>
            <a:ext cx="3755240" cy="209285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However, a hollow beam would be superior dealing with forces applied from all directions, such as those applied perpendicular to the forces applied to this beam. </a:t>
            </a:r>
          </a:p>
        </p:txBody>
      </p:sp>
    </p:spTree>
    <p:extLst>
      <p:ext uri="{BB962C8B-B14F-4D97-AF65-F5344CB8AC3E}">
        <p14:creationId xmlns:p14="http://schemas.microsoft.com/office/powerpoint/2010/main" val="4274846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9627B-531B-693A-5AF5-6801B903F5D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3732E23-7DC6-38D1-509F-944775275D1A}"/>
              </a:ext>
            </a:extLst>
          </p:cNvPr>
          <p:cNvSpPr>
            <a:spLocks noGrp="1"/>
          </p:cNvSpPr>
          <p:nvPr>
            <p:ph type="title"/>
          </p:nvPr>
        </p:nvSpPr>
        <p:spPr>
          <a:xfrm>
            <a:off x="893064" y="72518"/>
            <a:ext cx="10405174" cy="1326514"/>
          </a:xfrm>
        </p:spPr>
        <p:txBody>
          <a:bodyPr/>
          <a:lstStyle/>
          <a:p>
            <a:r>
              <a:rPr lang="en-US" dirty="0"/>
              <a:t>hollow-constant beam</a:t>
            </a:r>
            <a:endParaRPr lang="en-ZA" dirty="0"/>
          </a:p>
        </p:txBody>
      </p:sp>
      <p:sp>
        <p:nvSpPr>
          <p:cNvPr id="3" name="Slide Number Placeholder 2">
            <a:extLst>
              <a:ext uri="{FF2B5EF4-FFF2-40B4-BE49-F238E27FC236}">
                <a16:creationId xmlns:a16="http://schemas.microsoft.com/office/drawing/2014/main" id="{942D94A3-F0B8-EE29-F30C-B3AD9E36C507}"/>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21</a:t>
            </a:fld>
            <a:endParaRPr lang="en-US" dirty="0"/>
          </a:p>
        </p:txBody>
      </p:sp>
      <p:sp>
        <p:nvSpPr>
          <p:cNvPr id="6" name="Content Placeholder 8">
            <a:extLst>
              <a:ext uri="{FF2B5EF4-FFF2-40B4-BE49-F238E27FC236}">
                <a16:creationId xmlns:a16="http://schemas.microsoft.com/office/drawing/2014/main" id="{67BE8918-188F-85D6-8001-1C0C14C4DA3E}"/>
              </a:ext>
            </a:extLst>
          </p:cNvPr>
          <p:cNvSpPr txBox="1">
            <a:spLocks/>
          </p:cNvSpPr>
          <p:nvPr/>
        </p:nvSpPr>
        <p:spPr>
          <a:xfrm>
            <a:off x="7077776" y="1520696"/>
            <a:ext cx="3755240" cy="3447276"/>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Thus, the following dimensions were found for the solid constant beam:</a:t>
            </a:r>
          </a:p>
          <a:p>
            <a:pPr algn="ctr"/>
            <a:endParaRPr lang="en-US" dirty="0"/>
          </a:p>
        </p:txBody>
      </p:sp>
      <p:sp>
        <p:nvSpPr>
          <p:cNvPr id="7" name="TextBox 6">
            <a:extLst>
              <a:ext uri="{FF2B5EF4-FFF2-40B4-BE49-F238E27FC236}">
                <a16:creationId xmlns:a16="http://schemas.microsoft.com/office/drawing/2014/main" id="{CF88E726-BB83-6C09-37E1-5F9D06144F22}"/>
              </a:ext>
            </a:extLst>
          </p:cNvPr>
          <p:cNvSpPr txBox="1"/>
          <p:nvPr/>
        </p:nvSpPr>
        <p:spPr>
          <a:xfrm>
            <a:off x="8028700" y="2617131"/>
            <a:ext cx="1853392" cy="369332"/>
          </a:xfrm>
          <a:prstGeom prst="rect">
            <a:avLst/>
          </a:prstGeom>
          <a:noFill/>
        </p:spPr>
        <p:txBody>
          <a:bodyPr wrap="none" rtlCol="0">
            <a:spAutoFit/>
          </a:bodyPr>
          <a:lstStyle/>
          <a:p>
            <a:pPr algn="ctr"/>
            <a:r>
              <a:rPr lang="en-US" dirty="0"/>
              <a:t>Height: </a:t>
            </a:r>
            <a:r>
              <a:rPr lang="en-US" b="1" dirty="0"/>
              <a:t>35.44 in</a:t>
            </a:r>
          </a:p>
        </p:txBody>
      </p:sp>
      <p:sp>
        <p:nvSpPr>
          <p:cNvPr id="9" name="TextBox 8">
            <a:extLst>
              <a:ext uri="{FF2B5EF4-FFF2-40B4-BE49-F238E27FC236}">
                <a16:creationId xmlns:a16="http://schemas.microsoft.com/office/drawing/2014/main" id="{59B7F8E6-2F12-2AF3-905E-F5F8CDCA8E63}"/>
              </a:ext>
            </a:extLst>
          </p:cNvPr>
          <p:cNvSpPr txBox="1"/>
          <p:nvPr/>
        </p:nvSpPr>
        <p:spPr>
          <a:xfrm>
            <a:off x="8166215" y="2982452"/>
            <a:ext cx="1648208" cy="369332"/>
          </a:xfrm>
          <a:prstGeom prst="rect">
            <a:avLst/>
          </a:prstGeom>
          <a:noFill/>
        </p:spPr>
        <p:txBody>
          <a:bodyPr wrap="none" rtlCol="0">
            <a:spAutoFit/>
          </a:bodyPr>
          <a:lstStyle/>
          <a:p>
            <a:pPr algn="ctr"/>
            <a:r>
              <a:rPr lang="en-US" dirty="0"/>
              <a:t>Base: </a:t>
            </a:r>
            <a:r>
              <a:rPr lang="en-US" b="1" dirty="0"/>
              <a:t>49.29 in</a:t>
            </a:r>
          </a:p>
        </p:txBody>
      </p:sp>
      <p:sp>
        <p:nvSpPr>
          <p:cNvPr id="11" name="TextBox 10">
            <a:extLst>
              <a:ext uri="{FF2B5EF4-FFF2-40B4-BE49-F238E27FC236}">
                <a16:creationId xmlns:a16="http://schemas.microsoft.com/office/drawing/2014/main" id="{AB24A0DB-7AD2-C1D6-F4D3-D1920F16D70C}"/>
              </a:ext>
            </a:extLst>
          </p:cNvPr>
          <p:cNvSpPr txBox="1"/>
          <p:nvPr/>
        </p:nvSpPr>
        <p:spPr>
          <a:xfrm>
            <a:off x="7460124" y="3343762"/>
            <a:ext cx="3060390" cy="369332"/>
          </a:xfrm>
          <a:prstGeom prst="rect">
            <a:avLst/>
          </a:prstGeom>
          <a:noFill/>
        </p:spPr>
        <p:txBody>
          <a:bodyPr wrap="none" rtlCol="0">
            <a:spAutoFit/>
          </a:bodyPr>
          <a:lstStyle/>
          <a:p>
            <a:pPr algn="ctr"/>
            <a:r>
              <a:rPr lang="en-US" dirty="0"/>
              <a:t>Flange Thickness: </a:t>
            </a:r>
            <a:r>
              <a:rPr lang="en-US" b="1" dirty="0"/>
              <a:t>0.5000 in</a:t>
            </a:r>
          </a:p>
        </p:txBody>
      </p:sp>
      <p:sp>
        <p:nvSpPr>
          <p:cNvPr id="12" name="TextBox 11">
            <a:extLst>
              <a:ext uri="{FF2B5EF4-FFF2-40B4-BE49-F238E27FC236}">
                <a16:creationId xmlns:a16="http://schemas.microsoft.com/office/drawing/2014/main" id="{B60C9192-CFA8-A68C-9267-0624EDB22D01}"/>
              </a:ext>
            </a:extLst>
          </p:cNvPr>
          <p:cNvSpPr txBox="1"/>
          <p:nvPr/>
        </p:nvSpPr>
        <p:spPr>
          <a:xfrm>
            <a:off x="7367463" y="3703585"/>
            <a:ext cx="3175869" cy="369332"/>
          </a:xfrm>
          <a:prstGeom prst="rect">
            <a:avLst/>
          </a:prstGeom>
          <a:noFill/>
        </p:spPr>
        <p:txBody>
          <a:bodyPr wrap="none" rtlCol="0">
            <a:spAutoFit/>
          </a:bodyPr>
          <a:lstStyle/>
          <a:p>
            <a:pPr algn="ctr"/>
            <a:r>
              <a:rPr lang="en-US" dirty="0"/>
              <a:t>Side Wall Thickness: </a:t>
            </a:r>
            <a:r>
              <a:rPr lang="en-US" b="1" dirty="0"/>
              <a:t>2.127 in</a:t>
            </a:r>
          </a:p>
        </p:txBody>
      </p:sp>
      <p:sp>
        <p:nvSpPr>
          <p:cNvPr id="13" name="TextBox 12">
            <a:extLst>
              <a:ext uri="{FF2B5EF4-FFF2-40B4-BE49-F238E27FC236}">
                <a16:creationId xmlns:a16="http://schemas.microsoft.com/office/drawing/2014/main" id="{0803FF41-7D3F-7EA7-B293-8FBA4AB954E2}"/>
              </a:ext>
            </a:extLst>
          </p:cNvPr>
          <p:cNvSpPr txBox="1"/>
          <p:nvPr/>
        </p:nvSpPr>
        <p:spPr>
          <a:xfrm>
            <a:off x="8131301" y="4072917"/>
            <a:ext cx="1718034" cy="369332"/>
          </a:xfrm>
          <a:prstGeom prst="rect">
            <a:avLst/>
          </a:prstGeom>
          <a:noFill/>
        </p:spPr>
        <p:txBody>
          <a:bodyPr wrap="none" rtlCol="0">
            <a:spAutoFit/>
          </a:bodyPr>
          <a:lstStyle/>
          <a:p>
            <a:pPr algn="ctr"/>
            <a:r>
              <a:rPr lang="en-US" dirty="0"/>
              <a:t>Area: </a:t>
            </a:r>
            <a:r>
              <a:rPr lang="en-US" b="1" dirty="0"/>
              <a:t>195.8 in²</a:t>
            </a:r>
          </a:p>
        </p:txBody>
      </p:sp>
      <p:sp>
        <p:nvSpPr>
          <p:cNvPr id="14" name="TextBox 13">
            <a:extLst>
              <a:ext uri="{FF2B5EF4-FFF2-40B4-BE49-F238E27FC236}">
                <a16:creationId xmlns:a16="http://schemas.microsoft.com/office/drawing/2014/main" id="{404A9A64-6B00-58CF-8066-7B6AE2719D2B}"/>
              </a:ext>
            </a:extLst>
          </p:cNvPr>
          <p:cNvSpPr txBox="1"/>
          <p:nvPr/>
        </p:nvSpPr>
        <p:spPr>
          <a:xfrm>
            <a:off x="7432840" y="4424718"/>
            <a:ext cx="3114955" cy="369332"/>
          </a:xfrm>
          <a:prstGeom prst="rect">
            <a:avLst/>
          </a:prstGeom>
          <a:noFill/>
        </p:spPr>
        <p:txBody>
          <a:bodyPr wrap="none" rtlCol="0">
            <a:spAutoFit/>
          </a:bodyPr>
          <a:lstStyle/>
          <a:p>
            <a:pPr algn="ctr"/>
            <a:r>
              <a:rPr lang="en-US" dirty="0"/>
              <a:t>Section Modulus: </a:t>
            </a:r>
            <a:r>
              <a:rPr lang="en-US" b="1" dirty="0"/>
              <a:t>15,330 in³</a:t>
            </a:r>
          </a:p>
        </p:txBody>
      </p:sp>
      <p:sp>
        <p:nvSpPr>
          <p:cNvPr id="15" name="TextBox 14">
            <a:extLst>
              <a:ext uri="{FF2B5EF4-FFF2-40B4-BE49-F238E27FC236}">
                <a16:creationId xmlns:a16="http://schemas.microsoft.com/office/drawing/2014/main" id="{1A0AB7DF-B2DC-5F67-C5BC-073ECFD8ADA4}"/>
              </a:ext>
            </a:extLst>
          </p:cNvPr>
          <p:cNvSpPr txBox="1"/>
          <p:nvPr/>
        </p:nvSpPr>
        <p:spPr>
          <a:xfrm>
            <a:off x="7207072" y="4784541"/>
            <a:ext cx="3566490" cy="369332"/>
          </a:xfrm>
          <a:prstGeom prst="rect">
            <a:avLst/>
          </a:prstGeom>
          <a:noFill/>
        </p:spPr>
        <p:txBody>
          <a:bodyPr wrap="none" rtlCol="0">
            <a:spAutoFit/>
          </a:bodyPr>
          <a:lstStyle/>
          <a:p>
            <a:pPr algn="ctr"/>
            <a:r>
              <a:rPr lang="en-US" dirty="0"/>
              <a:t>Moment of Inertia: </a:t>
            </a:r>
            <a:r>
              <a:rPr lang="en-US" b="1" dirty="0"/>
              <a:t>271,600 in^4</a:t>
            </a:r>
          </a:p>
        </p:txBody>
      </p:sp>
      <p:sp>
        <p:nvSpPr>
          <p:cNvPr id="16" name="TextBox 15">
            <a:extLst>
              <a:ext uri="{FF2B5EF4-FFF2-40B4-BE49-F238E27FC236}">
                <a16:creationId xmlns:a16="http://schemas.microsoft.com/office/drawing/2014/main" id="{C3527D57-C335-1CA3-D70F-E062489DECBA}"/>
              </a:ext>
            </a:extLst>
          </p:cNvPr>
          <p:cNvSpPr txBox="1"/>
          <p:nvPr/>
        </p:nvSpPr>
        <p:spPr>
          <a:xfrm>
            <a:off x="7908965" y="5136342"/>
            <a:ext cx="2162708" cy="369332"/>
          </a:xfrm>
          <a:prstGeom prst="rect">
            <a:avLst/>
          </a:prstGeom>
          <a:noFill/>
        </p:spPr>
        <p:txBody>
          <a:bodyPr wrap="none" rtlCol="0">
            <a:spAutoFit/>
          </a:bodyPr>
          <a:lstStyle/>
          <a:p>
            <a:pPr algn="ctr"/>
            <a:r>
              <a:rPr lang="en-US" dirty="0"/>
              <a:t>Volume: </a:t>
            </a:r>
            <a:r>
              <a:rPr lang="en-US" b="1" dirty="0"/>
              <a:t>46,990 in³</a:t>
            </a:r>
          </a:p>
        </p:txBody>
      </p:sp>
      <p:sp>
        <p:nvSpPr>
          <p:cNvPr id="17" name="TextBox 16">
            <a:extLst>
              <a:ext uri="{FF2B5EF4-FFF2-40B4-BE49-F238E27FC236}">
                <a16:creationId xmlns:a16="http://schemas.microsoft.com/office/drawing/2014/main" id="{943B172B-B896-4018-46AB-FDAF290DB78B}"/>
              </a:ext>
            </a:extLst>
          </p:cNvPr>
          <p:cNvSpPr txBox="1"/>
          <p:nvPr/>
        </p:nvSpPr>
        <p:spPr>
          <a:xfrm>
            <a:off x="7931877" y="5513696"/>
            <a:ext cx="2047035" cy="369332"/>
          </a:xfrm>
          <a:prstGeom prst="rect">
            <a:avLst/>
          </a:prstGeom>
          <a:noFill/>
        </p:spPr>
        <p:txBody>
          <a:bodyPr wrap="none" rtlCol="0">
            <a:spAutoFit/>
          </a:bodyPr>
          <a:lstStyle/>
          <a:p>
            <a:pPr algn="ctr"/>
            <a:r>
              <a:rPr lang="en-US" dirty="0"/>
              <a:t>Weight: </a:t>
            </a:r>
            <a:r>
              <a:rPr lang="en-US" b="1" dirty="0"/>
              <a:t>13,340 lb</a:t>
            </a:r>
          </a:p>
        </p:txBody>
      </p:sp>
      <p:pic>
        <p:nvPicPr>
          <p:cNvPr id="4" name="Picture 3">
            <a:extLst>
              <a:ext uri="{FF2B5EF4-FFF2-40B4-BE49-F238E27FC236}">
                <a16:creationId xmlns:a16="http://schemas.microsoft.com/office/drawing/2014/main" id="{C1863444-6D88-6355-DEB5-1AF12E53BFCC}"/>
              </a:ext>
            </a:extLst>
          </p:cNvPr>
          <p:cNvPicPr>
            <a:picLocks noChangeAspect="1"/>
          </p:cNvPicPr>
          <p:nvPr/>
        </p:nvPicPr>
        <p:blipFill>
          <a:blip r:embed="rId2"/>
          <a:stretch>
            <a:fillRect/>
          </a:stretch>
        </p:blipFill>
        <p:spPr>
          <a:xfrm>
            <a:off x="739154" y="2100995"/>
            <a:ext cx="6053401" cy="3597367"/>
          </a:xfrm>
          <a:prstGeom prst="rect">
            <a:avLst/>
          </a:prstGeom>
        </p:spPr>
      </p:pic>
    </p:spTree>
    <p:extLst>
      <p:ext uri="{BB962C8B-B14F-4D97-AF65-F5344CB8AC3E}">
        <p14:creationId xmlns:p14="http://schemas.microsoft.com/office/powerpoint/2010/main" val="3389583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7F870-7D58-28FF-6DF4-9202CE64CB3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59907D0-6E42-2933-95E4-8B8D39AFD3BC}"/>
              </a:ext>
            </a:extLst>
          </p:cNvPr>
          <p:cNvSpPr>
            <a:spLocks noGrp="1"/>
          </p:cNvSpPr>
          <p:nvPr>
            <p:ph type="title"/>
          </p:nvPr>
        </p:nvSpPr>
        <p:spPr>
          <a:xfrm>
            <a:off x="893064" y="72518"/>
            <a:ext cx="10405174" cy="1326514"/>
          </a:xfrm>
        </p:spPr>
        <p:txBody>
          <a:bodyPr/>
          <a:lstStyle/>
          <a:p>
            <a:r>
              <a:rPr lang="en-US" dirty="0"/>
              <a:t>varied beam</a:t>
            </a:r>
            <a:endParaRPr lang="en-ZA" dirty="0"/>
          </a:p>
        </p:txBody>
      </p:sp>
      <p:sp>
        <p:nvSpPr>
          <p:cNvPr id="3" name="Slide Number Placeholder 2">
            <a:extLst>
              <a:ext uri="{FF2B5EF4-FFF2-40B4-BE49-F238E27FC236}">
                <a16:creationId xmlns:a16="http://schemas.microsoft.com/office/drawing/2014/main" id="{B739625E-32DD-48B4-1B29-4DEA48E595B2}"/>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22</a:t>
            </a:fld>
            <a:endParaRPr lang="en-US" dirty="0"/>
          </a:p>
        </p:txBody>
      </p:sp>
      <p:sp>
        <p:nvSpPr>
          <p:cNvPr id="6" name="Content Placeholder 8">
            <a:extLst>
              <a:ext uri="{FF2B5EF4-FFF2-40B4-BE49-F238E27FC236}">
                <a16:creationId xmlns:a16="http://schemas.microsoft.com/office/drawing/2014/main" id="{6629844C-8F47-3CEC-BAC1-ADD4F81B9EA4}"/>
              </a:ext>
            </a:extLst>
          </p:cNvPr>
          <p:cNvSpPr txBox="1">
            <a:spLocks/>
          </p:cNvSpPr>
          <p:nvPr/>
        </p:nvSpPr>
        <p:spPr>
          <a:xfrm>
            <a:off x="734888" y="1769449"/>
            <a:ext cx="3755240" cy="396978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While the Excel solver tool makes the process of finding the optimal shape of the beam much quicker, it would be impractical for one to do so for every 1-inch increment throughout the length of the beam. Therefore, a certain process was used where the properties of the beam could be approximated as a function of x.</a:t>
            </a:r>
          </a:p>
        </p:txBody>
      </p:sp>
      <p:pic>
        <p:nvPicPr>
          <p:cNvPr id="5" name="Picture 4">
            <a:extLst>
              <a:ext uri="{FF2B5EF4-FFF2-40B4-BE49-F238E27FC236}">
                <a16:creationId xmlns:a16="http://schemas.microsoft.com/office/drawing/2014/main" id="{7787AFA3-A3C6-F206-A3EB-58936227617E}"/>
              </a:ext>
            </a:extLst>
          </p:cNvPr>
          <p:cNvPicPr>
            <a:picLocks noChangeAspect="1"/>
          </p:cNvPicPr>
          <p:nvPr/>
        </p:nvPicPr>
        <p:blipFill>
          <a:blip r:embed="rId2"/>
          <a:stretch>
            <a:fillRect/>
          </a:stretch>
        </p:blipFill>
        <p:spPr>
          <a:xfrm>
            <a:off x="4989095" y="2291234"/>
            <a:ext cx="6840614" cy="2553481"/>
          </a:xfrm>
          <a:prstGeom prst="rect">
            <a:avLst/>
          </a:prstGeom>
        </p:spPr>
      </p:pic>
    </p:spTree>
    <p:extLst>
      <p:ext uri="{BB962C8B-B14F-4D97-AF65-F5344CB8AC3E}">
        <p14:creationId xmlns:p14="http://schemas.microsoft.com/office/powerpoint/2010/main" val="1629118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08F2E-A15D-6467-4C49-8202E692EC7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67B69F1-5C03-27F1-5126-080363F5F370}"/>
              </a:ext>
            </a:extLst>
          </p:cNvPr>
          <p:cNvSpPr>
            <a:spLocks noGrp="1"/>
          </p:cNvSpPr>
          <p:nvPr>
            <p:ph type="title"/>
          </p:nvPr>
        </p:nvSpPr>
        <p:spPr>
          <a:xfrm>
            <a:off x="893064" y="72518"/>
            <a:ext cx="10405174" cy="1326514"/>
          </a:xfrm>
        </p:spPr>
        <p:txBody>
          <a:bodyPr/>
          <a:lstStyle/>
          <a:p>
            <a:r>
              <a:rPr lang="en-US" dirty="0"/>
              <a:t>varied beam</a:t>
            </a:r>
            <a:endParaRPr lang="en-ZA" dirty="0"/>
          </a:p>
        </p:txBody>
      </p:sp>
      <p:sp>
        <p:nvSpPr>
          <p:cNvPr id="3" name="Slide Number Placeholder 2">
            <a:extLst>
              <a:ext uri="{FF2B5EF4-FFF2-40B4-BE49-F238E27FC236}">
                <a16:creationId xmlns:a16="http://schemas.microsoft.com/office/drawing/2014/main" id="{FB02BC98-4624-0968-7A52-38F4ACC84DD6}"/>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23</a:t>
            </a:fld>
            <a:endParaRPr lang="en-US" dirty="0"/>
          </a:p>
        </p:txBody>
      </p:sp>
      <p:sp>
        <p:nvSpPr>
          <p:cNvPr id="6" name="Content Placeholder 8">
            <a:extLst>
              <a:ext uri="{FF2B5EF4-FFF2-40B4-BE49-F238E27FC236}">
                <a16:creationId xmlns:a16="http://schemas.microsoft.com/office/drawing/2014/main" id="{98A68949-EB01-0612-376A-3A1135EE1067}"/>
              </a:ext>
            </a:extLst>
          </p:cNvPr>
          <p:cNvSpPr txBox="1">
            <a:spLocks/>
          </p:cNvSpPr>
          <p:nvPr/>
        </p:nvSpPr>
        <p:spPr>
          <a:xfrm>
            <a:off x="494257" y="3429000"/>
            <a:ext cx="3755240" cy="845414"/>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This process involves the following steps:</a:t>
            </a:r>
          </a:p>
        </p:txBody>
      </p:sp>
      <p:sp>
        <p:nvSpPr>
          <p:cNvPr id="2" name="Content Placeholder 8">
            <a:extLst>
              <a:ext uri="{FF2B5EF4-FFF2-40B4-BE49-F238E27FC236}">
                <a16:creationId xmlns:a16="http://schemas.microsoft.com/office/drawing/2014/main" id="{670F74EB-3AA3-CEDC-CE78-40807137D04E}"/>
              </a:ext>
            </a:extLst>
          </p:cNvPr>
          <p:cNvSpPr txBox="1">
            <a:spLocks/>
          </p:cNvSpPr>
          <p:nvPr/>
        </p:nvSpPr>
        <p:spPr>
          <a:xfrm>
            <a:off x="5908468" y="1110914"/>
            <a:ext cx="5048290" cy="5017169"/>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ctr">
              <a:buAutoNum type="arabicPeriod"/>
            </a:pPr>
            <a:r>
              <a:rPr lang="en-US" dirty="0"/>
              <a:t>Split the beam into 5 sections.</a:t>
            </a:r>
          </a:p>
          <a:p>
            <a:pPr marL="457200" indent="-457200" algn="ctr">
              <a:buAutoNum type="arabicPeriod"/>
            </a:pPr>
            <a:r>
              <a:rPr lang="en-US" dirty="0"/>
              <a:t>Split each section into 10 “steps”, based on x position.</a:t>
            </a:r>
          </a:p>
          <a:p>
            <a:pPr marL="457200" indent="-457200" algn="ctr">
              <a:buAutoNum type="arabicPeriod"/>
            </a:pPr>
            <a:r>
              <a:rPr lang="en-US" dirty="0"/>
              <a:t>For each step in each section, run the excel solver to find the optimal shape for that given portion of the beam.</a:t>
            </a:r>
          </a:p>
          <a:p>
            <a:pPr marL="457200" indent="-457200" algn="ctr">
              <a:buAutoNum type="arabicPeriod"/>
            </a:pPr>
            <a:r>
              <a:rPr lang="en-US" dirty="0"/>
              <a:t>Once the dimensions for each of these steps is found, use Excel’s cubic regression function (=LINEST), to calculate an approximate formula for each dimension.</a:t>
            </a:r>
          </a:p>
          <a:p>
            <a:pPr marL="457200" indent="-457200" algn="ctr">
              <a:buAutoNum type="arabicPeriod"/>
            </a:pPr>
            <a:r>
              <a:rPr lang="en-US" dirty="0"/>
              <a:t>Using Excel’s R^2 calculator (=RSQ), gauge the accuracy of the formula. </a:t>
            </a:r>
          </a:p>
        </p:txBody>
      </p:sp>
    </p:spTree>
    <p:extLst>
      <p:ext uri="{BB962C8B-B14F-4D97-AF65-F5344CB8AC3E}">
        <p14:creationId xmlns:p14="http://schemas.microsoft.com/office/powerpoint/2010/main" val="337526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18D9D-5C62-503A-D69A-3172A2338E4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AF62665-99F5-C330-C6C8-A11935C1CF9B}"/>
              </a:ext>
            </a:extLst>
          </p:cNvPr>
          <p:cNvSpPr>
            <a:spLocks noGrp="1"/>
          </p:cNvSpPr>
          <p:nvPr>
            <p:ph type="title"/>
          </p:nvPr>
        </p:nvSpPr>
        <p:spPr>
          <a:xfrm>
            <a:off x="893064" y="72518"/>
            <a:ext cx="10405174" cy="1326514"/>
          </a:xfrm>
        </p:spPr>
        <p:txBody>
          <a:bodyPr/>
          <a:lstStyle/>
          <a:p>
            <a:r>
              <a:rPr lang="en-US" dirty="0"/>
              <a:t>varied beam</a:t>
            </a:r>
            <a:endParaRPr lang="en-ZA" dirty="0"/>
          </a:p>
        </p:txBody>
      </p:sp>
      <p:sp>
        <p:nvSpPr>
          <p:cNvPr id="3" name="Slide Number Placeholder 2">
            <a:extLst>
              <a:ext uri="{FF2B5EF4-FFF2-40B4-BE49-F238E27FC236}">
                <a16:creationId xmlns:a16="http://schemas.microsoft.com/office/drawing/2014/main" id="{141357FC-438A-9C3D-6958-42C05288B880}"/>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24</a:t>
            </a:fld>
            <a:endParaRPr lang="en-US" dirty="0"/>
          </a:p>
        </p:txBody>
      </p:sp>
      <p:sp>
        <p:nvSpPr>
          <p:cNvPr id="6" name="Content Placeholder 8">
            <a:extLst>
              <a:ext uri="{FF2B5EF4-FFF2-40B4-BE49-F238E27FC236}">
                <a16:creationId xmlns:a16="http://schemas.microsoft.com/office/drawing/2014/main" id="{A0F27A3B-3A0C-9C88-836C-401A3ACD83E4}"/>
              </a:ext>
            </a:extLst>
          </p:cNvPr>
          <p:cNvSpPr txBox="1">
            <a:spLocks/>
          </p:cNvSpPr>
          <p:nvPr/>
        </p:nvSpPr>
        <p:spPr>
          <a:xfrm>
            <a:off x="766973" y="3006293"/>
            <a:ext cx="3755240" cy="845414"/>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This process involves the following steps:</a:t>
            </a:r>
          </a:p>
        </p:txBody>
      </p:sp>
      <p:sp>
        <p:nvSpPr>
          <p:cNvPr id="2" name="Content Placeholder 8">
            <a:extLst>
              <a:ext uri="{FF2B5EF4-FFF2-40B4-BE49-F238E27FC236}">
                <a16:creationId xmlns:a16="http://schemas.microsoft.com/office/drawing/2014/main" id="{D827CAE2-7AD0-59BA-2B14-29DF3D746B50}"/>
              </a:ext>
            </a:extLst>
          </p:cNvPr>
          <p:cNvSpPr txBox="1">
            <a:spLocks/>
          </p:cNvSpPr>
          <p:nvPr/>
        </p:nvSpPr>
        <p:spPr>
          <a:xfrm>
            <a:off x="5951272" y="374904"/>
            <a:ext cx="5048290" cy="5017169"/>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ctr">
              <a:buAutoNum type="arabicPeriod"/>
            </a:pPr>
            <a:r>
              <a:rPr lang="en-US" dirty="0">
                <a:solidFill>
                  <a:schemeClr val="bg1"/>
                </a:solidFill>
              </a:rPr>
              <a:t>D</a:t>
            </a:r>
          </a:p>
          <a:p>
            <a:pPr marL="457200" indent="-457200" algn="ctr">
              <a:buAutoNum type="arabicPeriod"/>
            </a:pPr>
            <a:r>
              <a:rPr lang="en-US" dirty="0">
                <a:solidFill>
                  <a:schemeClr val="bg1"/>
                </a:solidFill>
              </a:rPr>
              <a:t>D</a:t>
            </a:r>
          </a:p>
          <a:p>
            <a:pPr marL="457200" indent="-457200" algn="ctr">
              <a:buAutoNum type="arabicPeriod"/>
            </a:pPr>
            <a:r>
              <a:rPr lang="en-US" dirty="0">
                <a:solidFill>
                  <a:schemeClr val="bg1"/>
                </a:solidFill>
              </a:rPr>
              <a:t>D</a:t>
            </a:r>
          </a:p>
          <a:p>
            <a:pPr marL="457200" indent="-457200" algn="ctr">
              <a:buAutoNum type="arabicPeriod"/>
            </a:pPr>
            <a:r>
              <a:rPr lang="en-US" dirty="0">
                <a:solidFill>
                  <a:schemeClr val="bg1"/>
                </a:solidFill>
              </a:rPr>
              <a:t>D</a:t>
            </a:r>
          </a:p>
          <a:p>
            <a:pPr marL="457200" indent="-457200" algn="ctr">
              <a:buAutoNum type="arabicPeriod"/>
            </a:pPr>
            <a:r>
              <a:rPr lang="en-US" dirty="0">
                <a:solidFill>
                  <a:schemeClr val="bg1"/>
                </a:solidFill>
              </a:rPr>
              <a:t>D</a:t>
            </a:r>
          </a:p>
          <a:p>
            <a:pPr marL="457200" indent="-457200" algn="ctr">
              <a:buAutoNum type="arabicPeriod"/>
            </a:pPr>
            <a:r>
              <a:rPr lang="en-US" dirty="0"/>
              <a:t>Using the equations for each dimension, write 5 new equations approximating the area of the beam as a function of x.</a:t>
            </a:r>
          </a:p>
          <a:p>
            <a:pPr marL="457200" indent="-457200" algn="ctr">
              <a:buAutoNum type="arabicPeriod"/>
            </a:pPr>
            <a:r>
              <a:rPr lang="en-US" dirty="0"/>
              <a:t>Integrate the equations of the area to find the equations for the total volume of the varied beam.</a:t>
            </a:r>
          </a:p>
          <a:p>
            <a:pPr marL="457200" indent="-457200" algn="ctr">
              <a:buAutoNum type="arabicPeriod"/>
            </a:pPr>
            <a:r>
              <a:rPr lang="en-US" dirty="0"/>
              <a:t>Using these equations, automation can be used to approximate every x value with any size step (x=1in was used in the spreadsheet).</a:t>
            </a:r>
          </a:p>
          <a:p>
            <a:pPr marL="457200" indent="-457200" algn="ctr">
              <a:buAutoNum type="arabicPeriod"/>
            </a:pPr>
            <a:endParaRPr lang="en-US" dirty="0"/>
          </a:p>
        </p:txBody>
      </p:sp>
    </p:spTree>
    <p:extLst>
      <p:ext uri="{BB962C8B-B14F-4D97-AF65-F5344CB8AC3E}">
        <p14:creationId xmlns:p14="http://schemas.microsoft.com/office/powerpoint/2010/main" val="2062303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B5903-8A5D-0FA9-D52B-4DFADF1E4E1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F285193-EEB0-989B-16E2-CB64896F4DA5}"/>
              </a:ext>
            </a:extLst>
          </p:cNvPr>
          <p:cNvSpPr>
            <a:spLocks noGrp="1"/>
          </p:cNvSpPr>
          <p:nvPr>
            <p:ph type="title"/>
          </p:nvPr>
        </p:nvSpPr>
        <p:spPr>
          <a:xfrm>
            <a:off x="893064" y="72518"/>
            <a:ext cx="10405174" cy="1326514"/>
          </a:xfrm>
        </p:spPr>
        <p:txBody>
          <a:bodyPr/>
          <a:lstStyle/>
          <a:p>
            <a:r>
              <a:rPr lang="en-US" dirty="0"/>
              <a:t>varied beam</a:t>
            </a:r>
            <a:endParaRPr lang="en-ZA" dirty="0"/>
          </a:p>
        </p:txBody>
      </p:sp>
      <p:sp>
        <p:nvSpPr>
          <p:cNvPr id="3" name="Slide Number Placeholder 2">
            <a:extLst>
              <a:ext uri="{FF2B5EF4-FFF2-40B4-BE49-F238E27FC236}">
                <a16:creationId xmlns:a16="http://schemas.microsoft.com/office/drawing/2014/main" id="{1CE354C5-92AB-BCBC-E733-6DC44BC1396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25</a:t>
            </a:fld>
            <a:endParaRPr lang="en-US" dirty="0"/>
          </a:p>
        </p:txBody>
      </p:sp>
      <p:sp>
        <p:nvSpPr>
          <p:cNvPr id="6" name="Content Placeholder 8">
            <a:extLst>
              <a:ext uri="{FF2B5EF4-FFF2-40B4-BE49-F238E27FC236}">
                <a16:creationId xmlns:a16="http://schemas.microsoft.com/office/drawing/2014/main" id="{439CB1E4-4E34-BFBA-60DD-1726FA948C8E}"/>
              </a:ext>
            </a:extLst>
          </p:cNvPr>
          <p:cNvSpPr txBox="1">
            <a:spLocks/>
          </p:cNvSpPr>
          <p:nvPr/>
        </p:nvSpPr>
        <p:spPr>
          <a:xfrm>
            <a:off x="4218031" y="2640532"/>
            <a:ext cx="3755240" cy="270870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There are two reasons why sections are used, rather than splitting the entire beam into 10 steps and integrating from there.</a:t>
            </a:r>
          </a:p>
        </p:txBody>
      </p:sp>
    </p:spTree>
    <p:extLst>
      <p:ext uri="{BB962C8B-B14F-4D97-AF65-F5344CB8AC3E}">
        <p14:creationId xmlns:p14="http://schemas.microsoft.com/office/powerpoint/2010/main" val="1407542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B6EFA-8F99-6E49-6C99-E71EB918ACE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4A6FB90-E934-F871-AC5A-2A7365AFED79}"/>
              </a:ext>
            </a:extLst>
          </p:cNvPr>
          <p:cNvSpPr>
            <a:spLocks noGrp="1"/>
          </p:cNvSpPr>
          <p:nvPr>
            <p:ph type="title"/>
          </p:nvPr>
        </p:nvSpPr>
        <p:spPr>
          <a:xfrm>
            <a:off x="893064" y="72518"/>
            <a:ext cx="10405174" cy="1326514"/>
          </a:xfrm>
        </p:spPr>
        <p:txBody>
          <a:bodyPr/>
          <a:lstStyle/>
          <a:p>
            <a:r>
              <a:rPr lang="en-US" dirty="0"/>
              <a:t>varied beam</a:t>
            </a:r>
            <a:endParaRPr lang="en-ZA" dirty="0"/>
          </a:p>
        </p:txBody>
      </p:sp>
      <p:sp>
        <p:nvSpPr>
          <p:cNvPr id="3" name="Slide Number Placeholder 2">
            <a:extLst>
              <a:ext uri="{FF2B5EF4-FFF2-40B4-BE49-F238E27FC236}">
                <a16:creationId xmlns:a16="http://schemas.microsoft.com/office/drawing/2014/main" id="{8F3CD4FC-400E-A475-6746-28A40CFA7E66}"/>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26</a:t>
            </a:fld>
            <a:endParaRPr lang="en-US" dirty="0"/>
          </a:p>
        </p:txBody>
      </p:sp>
      <p:sp>
        <p:nvSpPr>
          <p:cNvPr id="6" name="Content Placeholder 8">
            <a:extLst>
              <a:ext uri="{FF2B5EF4-FFF2-40B4-BE49-F238E27FC236}">
                <a16:creationId xmlns:a16="http://schemas.microsoft.com/office/drawing/2014/main" id="{CBD15916-8389-58B4-DF93-3F3B6934482B}"/>
              </a:ext>
            </a:extLst>
          </p:cNvPr>
          <p:cNvSpPr txBox="1">
            <a:spLocks/>
          </p:cNvSpPr>
          <p:nvPr/>
        </p:nvSpPr>
        <p:spPr>
          <a:xfrm>
            <a:off x="893064" y="1552397"/>
            <a:ext cx="10405174" cy="167543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1. As x changes throughout the beam, the load on the beam changes irregularly. This means that there will be sudden fluctuations in the optimal dimensions for the beam, rather than smooth and formulaic shear and moment trends. Each section can therefore be started at these cusps, meaning each section will have its own equation for the dimensions of its beam.</a:t>
            </a:r>
          </a:p>
        </p:txBody>
      </p:sp>
      <p:pic>
        <p:nvPicPr>
          <p:cNvPr id="4" name="Picture 3">
            <a:extLst>
              <a:ext uri="{FF2B5EF4-FFF2-40B4-BE49-F238E27FC236}">
                <a16:creationId xmlns:a16="http://schemas.microsoft.com/office/drawing/2014/main" id="{F6D27BBF-8DFB-0D3F-DE90-B7E660D79363}"/>
              </a:ext>
            </a:extLst>
          </p:cNvPr>
          <p:cNvPicPr>
            <a:picLocks noChangeAspect="1"/>
          </p:cNvPicPr>
          <p:nvPr/>
        </p:nvPicPr>
        <p:blipFill>
          <a:blip r:embed="rId2"/>
          <a:stretch>
            <a:fillRect/>
          </a:stretch>
        </p:blipFill>
        <p:spPr>
          <a:xfrm>
            <a:off x="3254143" y="3251462"/>
            <a:ext cx="5092805" cy="3091400"/>
          </a:xfrm>
          <a:prstGeom prst="rect">
            <a:avLst/>
          </a:prstGeom>
        </p:spPr>
      </p:pic>
      <p:cxnSp>
        <p:nvCxnSpPr>
          <p:cNvPr id="7" name="Straight Arrow Connector 6">
            <a:extLst>
              <a:ext uri="{FF2B5EF4-FFF2-40B4-BE49-F238E27FC236}">
                <a16:creationId xmlns:a16="http://schemas.microsoft.com/office/drawing/2014/main" id="{AA425854-9852-3459-2052-5A8FB570AAD1}"/>
              </a:ext>
            </a:extLst>
          </p:cNvPr>
          <p:cNvCxnSpPr>
            <a:cxnSpLocks/>
          </p:cNvCxnSpPr>
          <p:nvPr/>
        </p:nvCxnSpPr>
        <p:spPr>
          <a:xfrm>
            <a:off x="4636008" y="3251462"/>
            <a:ext cx="497025" cy="541215"/>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E182FCA2-1862-7B0E-9E7D-C15F5A0136E3}"/>
              </a:ext>
            </a:extLst>
          </p:cNvPr>
          <p:cNvCxnSpPr>
            <a:cxnSpLocks/>
          </p:cNvCxnSpPr>
          <p:nvPr/>
        </p:nvCxnSpPr>
        <p:spPr>
          <a:xfrm flipH="1">
            <a:off x="6589040" y="3792677"/>
            <a:ext cx="305536" cy="1428547"/>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FDDADD6C-EE69-E7EE-583E-67053142D0EE}"/>
              </a:ext>
            </a:extLst>
          </p:cNvPr>
          <p:cNvCxnSpPr>
            <a:cxnSpLocks/>
          </p:cNvCxnSpPr>
          <p:nvPr/>
        </p:nvCxnSpPr>
        <p:spPr>
          <a:xfrm flipH="1">
            <a:off x="7235216" y="3877056"/>
            <a:ext cx="305536" cy="1428547"/>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571320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C917C-6F88-714E-0844-60EF361E6F9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803D585-C4E1-18A9-BD8B-AA09D9B0588B}"/>
              </a:ext>
            </a:extLst>
          </p:cNvPr>
          <p:cNvSpPr>
            <a:spLocks noGrp="1"/>
          </p:cNvSpPr>
          <p:nvPr>
            <p:ph type="title"/>
          </p:nvPr>
        </p:nvSpPr>
        <p:spPr>
          <a:xfrm>
            <a:off x="893064" y="72518"/>
            <a:ext cx="10405174" cy="1326514"/>
          </a:xfrm>
        </p:spPr>
        <p:txBody>
          <a:bodyPr/>
          <a:lstStyle/>
          <a:p>
            <a:r>
              <a:rPr lang="en-US" dirty="0"/>
              <a:t>varied beam</a:t>
            </a:r>
            <a:endParaRPr lang="en-ZA" dirty="0"/>
          </a:p>
        </p:txBody>
      </p:sp>
      <p:sp>
        <p:nvSpPr>
          <p:cNvPr id="3" name="Slide Number Placeholder 2">
            <a:extLst>
              <a:ext uri="{FF2B5EF4-FFF2-40B4-BE49-F238E27FC236}">
                <a16:creationId xmlns:a16="http://schemas.microsoft.com/office/drawing/2014/main" id="{5FD38285-1B09-A446-1346-5409595D7AB4}"/>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27</a:t>
            </a:fld>
            <a:endParaRPr lang="en-US" dirty="0"/>
          </a:p>
        </p:txBody>
      </p:sp>
      <p:sp>
        <p:nvSpPr>
          <p:cNvPr id="6" name="Content Placeholder 8">
            <a:extLst>
              <a:ext uri="{FF2B5EF4-FFF2-40B4-BE49-F238E27FC236}">
                <a16:creationId xmlns:a16="http://schemas.microsoft.com/office/drawing/2014/main" id="{4352645B-A669-E6C7-692B-A375068712F0}"/>
              </a:ext>
            </a:extLst>
          </p:cNvPr>
          <p:cNvSpPr txBox="1">
            <a:spLocks/>
          </p:cNvSpPr>
          <p:nvPr/>
        </p:nvSpPr>
        <p:spPr>
          <a:xfrm>
            <a:off x="911352" y="2512517"/>
            <a:ext cx="10405174" cy="309275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2. As the dimensions change across the beam, irregular changes in the patterns of optimal beam dimensions can occur, depending largely on the constraints of the beam. For example, as the optimal width of the beam decreases to 4 inches, the minimum allowed width of the beam, the width will suddenly stop decreasing as x increases. Instead, the solver will look for other ways to reduce area, such as reducing more height or flange/web thickness. This leads to cusps in the data, which will negatively affect the accuracy of the final equations. Therefore, sections can be added at these points to retain the accuracy of the equations.</a:t>
            </a:r>
          </a:p>
        </p:txBody>
      </p:sp>
    </p:spTree>
    <p:extLst>
      <p:ext uri="{BB962C8B-B14F-4D97-AF65-F5344CB8AC3E}">
        <p14:creationId xmlns:p14="http://schemas.microsoft.com/office/powerpoint/2010/main" val="89493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7C61-6DE9-4804-F082-B754226AFDD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8523F98-EF60-46D6-4B40-9B5974AD646B}"/>
              </a:ext>
            </a:extLst>
          </p:cNvPr>
          <p:cNvSpPr>
            <a:spLocks noGrp="1"/>
          </p:cNvSpPr>
          <p:nvPr>
            <p:ph type="title"/>
          </p:nvPr>
        </p:nvSpPr>
        <p:spPr>
          <a:xfrm>
            <a:off x="893064" y="72518"/>
            <a:ext cx="10405174" cy="1326514"/>
          </a:xfrm>
        </p:spPr>
        <p:txBody>
          <a:bodyPr/>
          <a:lstStyle/>
          <a:p>
            <a:r>
              <a:rPr lang="en-US" dirty="0"/>
              <a:t>varied beam</a:t>
            </a:r>
            <a:endParaRPr lang="en-ZA" dirty="0"/>
          </a:p>
        </p:txBody>
      </p:sp>
      <p:sp>
        <p:nvSpPr>
          <p:cNvPr id="3" name="Slide Number Placeholder 2">
            <a:extLst>
              <a:ext uri="{FF2B5EF4-FFF2-40B4-BE49-F238E27FC236}">
                <a16:creationId xmlns:a16="http://schemas.microsoft.com/office/drawing/2014/main" id="{EB970441-9821-DC71-6017-194DF748834D}"/>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28</a:t>
            </a:fld>
            <a:endParaRPr lang="en-US" dirty="0"/>
          </a:p>
        </p:txBody>
      </p:sp>
      <p:graphicFrame>
        <p:nvGraphicFramePr>
          <p:cNvPr id="4" name="Table 3">
            <a:extLst>
              <a:ext uri="{FF2B5EF4-FFF2-40B4-BE49-F238E27FC236}">
                <a16:creationId xmlns:a16="http://schemas.microsoft.com/office/drawing/2014/main" id="{3A7EBFDC-3715-F4BE-A39D-8AF4CD198C46}"/>
              </a:ext>
            </a:extLst>
          </p:cNvPr>
          <p:cNvGraphicFramePr>
            <a:graphicFrameLocks noGrp="1"/>
          </p:cNvGraphicFramePr>
          <p:nvPr>
            <p:extLst>
              <p:ext uri="{D42A27DB-BD31-4B8C-83A1-F6EECF244321}">
                <p14:modId xmlns:p14="http://schemas.microsoft.com/office/powerpoint/2010/main" val="799879474"/>
              </p:ext>
            </p:extLst>
          </p:nvPr>
        </p:nvGraphicFramePr>
        <p:xfrm>
          <a:off x="2031651" y="2429594"/>
          <a:ext cx="8128000" cy="222504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848724081"/>
                    </a:ext>
                  </a:extLst>
                </a:gridCol>
                <a:gridCol w="4064000">
                  <a:extLst>
                    <a:ext uri="{9D8B030D-6E8A-4147-A177-3AD203B41FA5}">
                      <a16:colId xmlns:a16="http://schemas.microsoft.com/office/drawing/2014/main" val="2047106700"/>
                    </a:ext>
                  </a:extLst>
                </a:gridCol>
              </a:tblGrid>
              <a:tr h="370840">
                <a:tc>
                  <a:txBody>
                    <a:bodyPr/>
                    <a:lstStyle/>
                    <a:p>
                      <a:r>
                        <a:rPr lang="en-US" dirty="0"/>
                        <a:t>Section</a:t>
                      </a:r>
                    </a:p>
                  </a:txBody>
                  <a:tcPr/>
                </a:tc>
                <a:tc>
                  <a:txBody>
                    <a:bodyPr/>
                    <a:lstStyle/>
                    <a:p>
                      <a:r>
                        <a:rPr lang="en-US" dirty="0"/>
                        <a:t>x (in)</a:t>
                      </a:r>
                    </a:p>
                  </a:txBody>
                  <a:tcPr/>
                </a:tc>
                <a:extLst>
                  <a:ext uri="{0D108BD9-81ED-4DB2-BD59-A6C34878D82A}">
                    <a16:rowId xmlns:a16="http://schemas.microsoft.com/office/drawing/2014/main" val="4263840506"/>
                  </a:ext>
                </a:extLst>
              </a:tr>
              <a:tr h="370840">
                <a:tc>
                  <a:txBody>
                    <a:bodyPr/>
                    <a:lstStyle/>
                    <a:p>
                      <a:r>
                        <a:rPr lang="en-US" dirty="0"/>
                        <a:t>1</a:t>
                      </a:r>
                    </a:p>
                  </a:txBody>
                  <a:tcPr/>
                </a:tc>
                <a:tc>
                  <a:txBody>
                    <a:bodyPr/>
                    <a:lstStyle/>
                    <a:p>
                      <a:r>
                        <a:rPr lang="en-US" dirty="0"/>
                        <a:t>0 - 60</a:t>
                      </a:r>
                    </a:p>
                  </a:txBody>
                  <a:tcPr/>
                </a:tc>
                <a:extLst>
                  <a:ext uri="{0D108BD9-81ED-4DB2-BD59-A6C34878D82A}">
                    <a16:rowId xmlns:a16="http://schemas.microsoft.com/office/drawing/2014/main" val="1272412108"/>
                  </a:ext>
                </a:extLst>
              </a:tr>
              <a:tr h="370840">
                <a:tc>
                  <a:txBody>
                    <a:bodyPr/>
                    <a:lstStyle/>
                    <a:p>
                      <a:r>
                        <a:rPr lang="en-US" dirty="0"/>
                        <a:t>2</a:t>
                      </a:r>
                    </a:p>
                  </a:txBody>
                  <a:tcPr/>
                </a:tc>
                <a:tc>
                  <a:txBody>
                    <a:bodyPr/>
                    <a:lstStyle/>
                    <a:p>
                      <a:r>
                        <a:rPr lang="en-US" dirty="0"/>
                        <a:t>60 - 156</a:t>
                      </a:r>
                    </a:p>
                  </a:txBody>
                  <a:tcPr/>
                </a:tc>
                <a:extLst>
                  <a:ext uri="{0D108BD9-81ED-4DB2-BD59-A6C34878D82A}">
                    <a16:rowId xmlns:a16="http://schemas.microsoft.com/office/drawing/2014/main" val="1938429536"/>
                  </a:ext>
                </a:extLst>
              </a:tr>
              <a:tr h="370840">
                <a:tc>
                  <a:txBody>
                    <a:bodyPr/>
                    <a:lstStyle/>
                    <a:p>
                      <a:r>
                        <a:rPr lang="en-US" dirty="0"/>
                        <a:t>3</a:t>
                      </a:r>
                    </a:p>
                  </a:txBody>
                  <a:tcPr/>
                </a:tc>
                <a:tc>
                  <a:txBody>
                    <a:bodyPr/>
                    <a:lstStyle/>
                    <a:p>
                      <a:r>
                        <a:rPr lang="en-US" dirty="0"/>
                        <a:t>156 - 168</a:t>
                      </a:r>
                    </a:p>
                  </a:txBody>
                  <a:tcPr/>
                </a:tc>
                <a:extLst>
                  <a:ext uri="{0D108BD9-81ED-4DB2-BD59-A6C34878D82A}">
                    <a16:rowId xmlns:a16="http://schemas.microsoft.com/office/drawing/2014/main" val="710988282"/>
                  </a:ext>
                </a:extLst>
              </a:tr>
              <a:tr h="370840">
                <a:tc>
                  <a:txBody>
                    <a:bodyPr/>
                    <a:lstStyle/>
                    <a:p>
                      <a:r>
                        <a:rPr lang="en-US" dirty="0"/>
                        <a:t>4</a:t>
                      </a:r>
                    </a:p>
                  </a:txBody>
                  <a:tcPr/>
                </a:tc>
                <a:tc>
                  <a:txBody>
                    <a:bodyPr/>
                    <a:lstStyle/>
                    <a:p>
                      <a:r>
                        <a:rPr lang="en-US" dirty="0"/>
                        <a:t>168 - 198</a:t>
                      </a:r>
                    </a:p>
                  </a:txBody>
                  <a:tcPr/>
                </a:tc>
                <a:extLst>
                  <a:ext uri="{0D108BD9-81ED-4DB2-BD59-A6C34878D82A}">
                    <a16:rowId xmlns:a16="http://schemas.microsoft.com/office/drawing/2014/main" val="1325839042"/>
                  </a:ext>
                </a:extLst>
              </a:tr>
              <a:tr h="370840">
                <a:tc>
                  <a:txBody>
                    <a:bodyPr/>
                    <a:lstStyle/>
                    <a:p>
                      <a:r>
                        <a:rPr lang="en-US" dirty="0"/>
                        <a:t>5</a:t>
                      </a:r>
                    </a:p>
                  </a:txBody>
                  <a:tcPr/>
                </a:tc>
                <a:tc>
                  <a:txBody>
                    <a:bodyPr/>
                    <a:lstStyle/>
                    <a:p>
                      <a:r>
                        <a:rPr lang="en-US" dirty="0"/>
                        <a:t>198 - 240</a:t>
                      </a:r>
                    </a:p>
                  </a:txBody>
                  <a:tcPr/>
                </a:tc>
                <a:extLst>
                  <a:ext uri="{0D108BD9-81ED-4DB2-BD59-A6C34878D82A}">
                    <a16:rowId xmlns:a16="http://schemas.microsoft.com/office/drawing/2014/main" val="1267013289"/>
                  </a:ext>
                </a:extLst>
              </a:tr>
            </a:tbl>
          </a:graphicData>
        </a:graphic>
      </p:graphicFrame>
    </p:spTree>
    <p:extLst>
      <p:ext uri="{BB962C8B-B14F-4D97-AF65-F5344CB8AC3E}">
        <p14:creationId xmlns:p14="http://schemas.microsoft.com/office/powerpoint/2010/main" val="358705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EBB59-94A2-CA09-ACC6-7B584610F62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B2D2077-258B-44AC-0BB9-6AB5F9CAE2F3}"/>
              </a:ext>
            </a:extLst>
          </p:cNvPr>
          <p:cNvSpPr>
            <a:spLocks noGrp="1"/>
          </p:cNvSpPr>
          <p:nvPr>
            <p:ph type="title"/>
          </p:nvPr>
        </p:nvSpPr>
        <p:spPr>
          <a:xfrm>
            <a:off x="893064" y="72518"/>
            <a:ext cx="10405174" cy="1326514"/>
          </a:xfrm>
        </p:spPr>
        <p:txBody>
          <a:bodyPr/>
          <a:lstStyle/>
          <a:p>
            <a:r>
              <a:rPr lang="en-US" dirty="0"/>
              <a:t>varied beam (Section 1, section 2)</a:t>
            </a:r>
            <a:endParaRPr lang="en-ZA" dirty="0"/>
          </a:p>
        </p:txBody>
      </p:sp>
      <p:sp>
        <p:nvSpPr>
          <p:cNvPr id="3" name="Slide Number Placeholder 2">
            <a:extLst>
              <a:ext uri="{FF2B5EF4-FFF2-40B4-BE49-F238E27FC236}">
                <a16:creationId xmlns:a16="http://schemas.microsoft.com/office/drawing/2014/main" id="{B6EB1B6F-761C-59A3-5E16-99ADB31C8821}"/>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29</a:t>
            </a:fld>
            <a:endParaRPr lang="en-US" dirty="0"/>
          </a:p>
        </p:txBody>
      </p:sp>
      <p:pic>
        <p:nvPicPr>
          <p:cNvPr id="10" name="Picture 9">
            <a:extLst>
              <a:ext uri="{FF2B5EF4-FFF2-40B4-BE49-F238E27FC236}">
                <a16:creationId xmlns:a16="http://schemas.microsoft.com/office/drawing/2014/main" id="{C7BE5A0E-C72E-32DF-3A10-28F26008C33A}"/>
              </a:ext>
            </a:extLst>
          </p:cNvPr>
          <p:cNvPicPr>
            <a:picLocks noChangeAspect="1"/>
          </p:cNvPicPr>
          <p:nvPr/>
        </p:nvPicPr>
        <p:blipFill>
          <a:blip r:embed="rId2"/>
          <a:stretch>
            <a:fillRect/>
          </a:stretch>
        </p:blipFill>
        <p:spPr>
          <a:xfrm>
            <a:off x="0" y="1603110"/>
            <a:ext cx="12192000" cy="1825890"/>
          </a:xfrm>
          <a:prstGeom prst="rect">
            <a:avLst/>
          </a:prstGeom>
        </p:spPr>
      </p:pic>
      <p:pic>
        <p:nvPicPr>
          <p:cNvPr id="12" name="Picture 11">
            <a:extLst>
              <a:ext uri="{FF2B5EF4-FFF2-40B4-BE49-F238E27FC236}">
                <a16:creationId xmlns:a16="http://schemas.microsoft.com/office/drawing/2014/main" id="{4A2C01F1-B3B7-F8AC-8C6C-3B87F65E0FF2}"/>
              </a:ext>
            </a:extLst>
          </p:cNvPr>
          <p:cNvPicPr>
            <a:picLocks noChangeAspect="1"/>
          </p:cNvPicPr>
          <p:nvPr/>
        </p:nvPicPr>
        <p:blipFill>
          <a:blip r:embed="rId3"/>
          <a:stretch>
            <a:fillRect/>
          </a:stretch>
        </p:blipFill>
        <p:spPr>
          <a:xfrm>
            <a:off x="-349" y="3744317"/>
            <a:ext cx="12192000" cy="1838245"/>
          </a:xfrm>
          <a:prstGeom prst="rect">
            <a:avLst/>
          </a:prstGeom>
        </p:spPr>
      </p:pic>
    </p:spTree>
    <p:extLst>
      <p:ext uri="{BB962C8B-B14F-4D97-AF65-F5344CB8AC3E}">
        <p14:creationId xmlns:p14="http://schemas.microsoft.com/office/powerpoint/2010/main" val="180252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B6878-65C5-172C-AC59-43CBCA0032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36F5E05-2F1E-3F49-DBED-13F9271409E2}"/>
              </a:ext>
            </a:extLst>
          </p:cNvPr>
          <p:cNvSpPr>
            <a:spLocks noGrp="1"/>
          </p:cNvSpPr>
          <p:nvPr>
            <p:ph type="title"/>
          </p:nvPr>
        </p:nvSpPr>
        <p:spPr>
          <a:xfrm>
            <a:off x="893064" y="72518"/>
            <a:ext cx="10405174" cy="1326514"/>
          </a:xfrm>
        </p:spPr>
        <p:txBody>
          <a:bodyPr/>
          <a:lstStyle/>
          <a:p>
            <a:r>
              <a:rPr lang="en-US" dirty="0"/>
              <a:t>varied beam (section 3, section 4)</a:t>
            </a:r>
            <a:endParaRPr lang="en-ZA" dirty="0"/>
          </a:p>
        </p:txBody>
      </p:sp>
      <p:sp>
        <p:nvSpPr>
          <p:cNvPr id="3" name="Slide Number Placeholder 2">
            <a:extLst>
              <a:ext uri="{FF2B5EF4-FFF2-40B4-BE49-F238E27FC236}">
                <a16:creationId xmlns:a16="http://schemas.microsoft.com/office/drawing/2014/main" id="{7069E35F-A65D-0535-6C1B-C0546D422B95}"/>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30</a:t>
            </a:fld>
            <a:endParaRPr lang="en-US" dirty="0"/>
          </a:p>
        </p:txBody>
      </p:sp>
      <p:pic>
        <p:nvPicPr>
          <p:cNvPr id="4" name="Picture 3">
            <a:extLst>
              <a:ext uri="{FF2B5EF4-FFF2-40B4-BE49-F238E27FC236}">
                <a16:creationId xmlns:a16="http://schemas.microsoft.com/office/drawing/2014/main" id="{40657FE7-E3FE-2627-1687-C30AD31E3AA3}"/>
              </a:ext>
            </a:extLst>
          </p:cNvPr>
          <p:cNvPicPr>
            <a:picLocks noChangeAspect="1"/>
          </p:cNvPicPr>
          <p:nvPr/>
        </p:nvPicPr>
        <p:blipFill>
          <a:blip r:embed="rId2"/>
          <a:srcRect t="54656"/>
          <a:stretch>
            <a:fillRect/>
          </a:stretch>
        </p:blipFill>
        <p:spPr>
          <a:xfrm>
            <a:off x="0" y="1558768"/>
            <a:ext cx="12192000" cy="1870232"/>
          </a:xfrm>
          <a:prstGeom prst="rect">
            <a:avLst/>
          </a:prstGeom>
        </p:spPr>
      </p:pic>
      <p:pic>
        <p:nvPicPr>
          <p:cNvPr id="6" name="Picture 5">
            <a:extLst>
              <a:ext uri="{FF2B5EF4-FFF2-40B4-BE49-F238E27FC236}">
                <a16:creationId xmlns:a16="http://schemas.microsoft.com/office/drawing/2014/main" id="{321449C1-272E-751C-E65D-5DFBFA0317A2}"/>
              </a:ext>
            </a:extLst>
          </p:cNvPr>
          <p:cNvPicPr>
            <a:picLocks noChangeAspect="1"/>
          </p:cNvPicPr>
          <p:nvPr/>
        </p:nvPicPr>
        <p:blipFill>
          <a:blip r:embed="rId3"/>
          <a:stretch>
            <a:fillRect/>
          </a:stretch>
        </p:blipFill>
        <p:spPr>
          <a:xfrm>
            <a:off x="0" y="3762472"/>
            <a:ext cx="12192000" cy="1832072"/>
          </a:xfrm>
          <a:prstGeom prst="rect">
            <a:avLst/>
          </a:prstGeom>
        </p:spPr>
      </p:pic>
    </p:spTree>
    <p:extLst>
      <p:ext uri="{BB962C8B-B14F-4D97-AF65-F5344CB8AC3E}">
        <p14:creationId xmlns:p14="http://schemas.microsoft.com/office/powerpoint/2010/main" val="590024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0892C-870A-5223-7EE4-8CCB8064A6C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FF75D03-34D3-4621-852F-7A9A17B3C26F}"/>
              </a:ext>
            </a:extLst>
          </p:cNvPr>
          <p:cNvSpPr>
            <a:spLocks noGrp="1"/>
          </p:cNvSpPr>
          <p:nvPr>
            <p:ph type="title"/>
          </p:nvPr>
        </p:nvSpPr>
        <p:spPr>
          <a:xfrm>
            <a:off x="893064" y="72518"/>
            <a:ext cx="10405174" cy="1326514"/>
          </a:xfrm>
        </p:spPr>
        <p:txBody>
          <a:bodyPr/>
          <a:lstStyle/>
          <a:p>
            <a:r>
              <a:rPr lang="en-US" dirty="0"/>
              <a:t>varied beam (section 5)</a:t>
            </a:r>
            <a:endParaRPr lang="en-ZA" dirty="0"/>
          </a:p>
        </p:txBody>
      </p:sp>
      <p:sp>
        <p:nvSpPr>
          <p:cNvPr id="3" name="Slide Number Placeholder 2">
            <a:extLst>
              <a:ext uri="{FF2B5EF4-FFF2-40B4-BE49-F238E27FC236}">
                <a16:creationId xmlns:a16="http://schemas.microsoft.com/office/drawing/2014/main" id="{D5F75FAC-1BD1-8537-95DD-9DF3C7822FFF}"/>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31</a:t>
            </a:fld>
            <a:endParaRPr lang="en-US" dirty="0"/>
          </a:p>
        </p:txBody>
      </p:sp>
      <p:pic>
        <p:nvPicPr>
          <p:cNvPr id="4" name="Picture 3">
            <a:extLst>
              <a:ext uri="{FF2B5EF4-FFF2-40B4-BE49-F238E27FC236}">
                <a16:creationId xmlns:a16="http://schemas.microsoft.com/office/drawing/2014/main" id="{5A625C6A-E240-6AB3-B2D3-B0E7E96AC1B0}"/>
              </a:ext>
            </a:extLst>
          </p:cNvPr>
          <p:cNvPicPr>
            <a:picLocks noChangeAspect="1"/>
          </p:cNvPicPr>
          <p:nvPr/>
        </p:nvPicPr>
        <p:blipFill>
          <a:blip r:embed="rId2"/>
          <a:stretch>
            <a:fillRect/>
          </a:stretch>
        </p:blipFill>
        <p:spPr>
          <a:xfrm>
            <a:off x="0" y="2500638"/>
            <a:ext cx="12192000" cy="1856723"/>
          </a:xfrm>
          <a:prstGeom prst="rect">
            <a:avLst/>
          </a:prstGeom>
        </p:spPr>
      </p:pic>
    </p:spTree>
    <p:extLst>
      <p:ext uri="{BB962C8B-B14F-4D97-AF65-F5344CB8AC3E}">
        <p14:creationId xmlns:p14="http://schemas.microsoft.com/office/powerpoint/2010/main" val="23674567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16C42-11DE-A6D6-8C48-D03D41735A4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32DA5EA-72EC-6FCD-2EA2-7E1EA23DB2EF}"/>
              </a:ext>
            </a:extLst>
          </p:cNvPr>
          <p:cNvSpPr>
            <a:spLocks noGrp="1"/>
          </p:cNvSpPr>
          <p:nvPr>
            <p:ph type="title"/>
          </p:nvPr>
        </p:nvSpPr>
        <p:spPr>
          <a:xfrm>
            <a:off x="893064" y="72518"/>
            <a:ext cx="10405174" cy="1326514"/>
          </a:xfrm>
        </p:spPr>
        <p:txBody>
          <a:bodyPr/>
          <a:lstStyle/>
          <a:p>
            <a:r>
              <a:rPr lang="en-US" dirty="0"/>
              <a:t>varied beam Summary</a:t>
            </a:r>
            <a:endParaRPr lang="en-ZA" dirty="0"/>
          </a:p>
        </p:txBody>
      </p:sp>
      <p:sp>
        <p:nvSpPr>
          <p:cNvPr id="3" name="Slide Number Placeholder 2">
            <a:extLst>
              <a:ext uri="{FF2B5EF4-FFF2-40B4-BE49-F238E27FC236}">
                <a16:creationId xmlns:a16="http://schemas.microsoft.com/office/drawing/2014/main" id="{7AC590A2-8001-FD6D-61E6-AB3DE5CB967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32</a:t>
            </a:fld>
            <a:endParaRPr lang="en-US" dirty="0"/>
          </a:p>
        </p:txBody>
      </p:sp>
      <p:sp>
        <p:nvSpPr>
          <p:cNvPr id="6" name="Content Placeholder 8">
            <a:extLst>
              <a:ext uri="{FF2B5EF4-FFF2-40B4-BE49-F238E27FC236}">
                <a16:creationId xmlns:a16="http://schemas.microsoft.com/office/drawing/2014/main" id="{B1275929-050C-C316-824E-6635B117762D}"/>
              </a:ext>
            </a:extLst>
          </p:cNvPr>
          <p:cNvSpPr txBox="1">
            <a:spLocks/>
          </p:cNvSpPr>
          <p:nvPr/>
        </p:nvSpPr>
        <p:spPr>
          <a:xfrm>
            <a:off x="1941714" y="2258796"/>
            <a:ext cx="3916680" cy="3987826"/>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The varied beam design greatly saved on material costs compared to the constant beams, due to being able to save weight where it was not needed. In fact, the varied beam used 48.44% of the steel the constant beam did, thus being 106.4% more efficient with its steel.</a:t>
            </a:r>
          </a:p>
        </p:txBody>
      </p:sp>
      <p:sp>
        <p:nvSpPr>
          <p:cNvPr id="7" name="TextBox 6">
            <a:extLst>
              <a:ext uri="{FF2B5EF4-FFF2-40B4-BE49-F238E27FC236}">
                <a16:creationId xmlns:a16="http://schemas.microsoft.com/office/drawing/2014/main" id="{30B224D5-B0FB-1A07-C601-D098E2E7B87E}"/>
              </a:ext>
            </a:extLst>
          </p:cNvPr>
          <p:cNvSpPr txBox="1"/>
          <p:nvPr/>
        </p:nvSpPr>
        <p:spPr>
          <a:xfrm>
            <a:off x="7930632" y="2182251"/>
            <a:ext cx="2613152" cy="369332"/>
          </a:xfrm>
          <a:prstGeom prst="rect">
            <a:avLst/>
          </a:prstGeom>
          <a:noFill/>
        </p:spPr>
        <p:txBody>
          <a:bodyPr wrap="none" rtlCol="0">
            <a:spAutoFit/>
          </a:bodyPr>
          <a:lstStyle/>
          <a:p>
            <a:pPr algn="ctr"/>
            <a:r>
              <a:rPr lang="en-US" dirty="0"/>
              <a:t>Average area: </a:t>
            </a:r>
            <a:r>
              <a:rPr lang="en-US" b="1" dirty="0"/>
              <a:t>94.84 in²</a:t>
            </a:r>
          </a:p>
        </p:txBody>
      </p:sp>
      <p:sp>
        <p:nvSpPr>
          <p:cNvPr id="9" name="TextBox 8">
            <a:extLst>
              <a:ext uri="{FF2B5EF4-FFF2-40B4-BE49-F238E27FC236}">
                <a16:creationId xmlns:a16="http://schemas.microsoft.com/office/drawing/2014/main" id="{CA7E23C2-D3C3-F51C-CCBF-3C8542761662}"/>
              </a:ext>
            </a:extLst>
          </p:cNvPr>
          <p:cNvSpPr txBox="1"/>
          <p:nvPr/>
        </p:nvSpPr>
        <p:spPr>
          <a:xfrm>
            <a:off x="8021053" y="2551583"/>
            <a:ext cx="2162708" cy="369332"/>
          </a:xfrm>
          <a:prstGeom prst="rect">
            <a:avLst/>
          </a:prstGeom>
          <a:noFill/>
        </p:spPr>
        <p:txBody>
          <a:bodyPr wrap="none" rtlCol="0">
            <a:spAutoFit/>
          </a:bodyPr>
          <a:lstStyle/>
          <a:p>
            <a:pPr algn="ctr"/>
            <a:r>
              <a:rPr lang="en-US" dirty="0"/>
              <a:t>Volume: </a:t>
            </a:r>
            <a:r>
              <a:rPr lang="en-US" b="1" dirty="0"/>
              <a:t>22,760 in³</a:t>
            </a:r>
          </a:p>
        </p:txBody>
      </p:sp>
      <p:sp>
        <p:nvSpPr>
          <p:cNvPr id="10" name="TextBox 9">
            <a:extLst>
              <a:ext uri="{FF2B5EF4-FFF2-40B4-BE49-F238E27FC236}">
                <a16:creationId xmlns:a16="http://schemas.microsoft.com/office/drawing/2014/main" id="{CC12615F-87BE-208D-FD1A-9A2E39348AEA}"/>
              </a:ext>
            </a:extLst>
          </p:cNvPr>
          <p:cNvSpPr txBox="1"/>
          <p:nvPr/>
        </p:nvSpPr>
        <p:spPr>
          <a:xfrm>
            <a:off x="8145414" y="2920915"/>
            <a:ext cx="1913985" cy="369332"/>
          </a:xfrm>
          <a:prstGeom prst="rect">
            <a:avLst/>
          </a:prstGeom>
          <a:noFill/>
        </p:spPr>
        <p:txBody>
          <a:bodyPr wrap="none" rtlCol="0">
            <a:spAutoFit/>
          </a:bodyPr>
          <a:lstStyle/>
          <a:p>
            <a:pPr algn="ctr"/>
            <a:r>
              <a:rPr lang="en-US" dirty="0"/>
              <a:t>Weight: </a:t>
            </a:r>
            <a:r>
              <a:rPr lang="en-US" b="1" dirty="0"/>
              <a:t>6,464 lb</a:t>
            </a:r>
          </a:p>
        </p:txBody>
      </p:sp>
      <p:sp>
        <p:nvSpPr>
          <p:cNvPr id="11" name="TextBox 10">
            <a:extLst>
              <a:ext uri="{FF2B5EF4-FFF2-40B4-BE49-F238E27FC236}">
                <a16:creationId xmlns:a16="http://schemas.microsoft.com/office/drawing/2014/main" id="{264997C8-DCBD-F0B3-DB8D-E755531E5AA2}"/>
              </a:ext>
            </a:extLst>
          </p:cNvPr>
          <p:cNvSpPr txBox="1"/>
          <p:nvPr/>
        </p:nvSpPr>
        <p:spPr>
          <a:xfrm>
            <a:off x="7795832" y="4042922"/>
            <a:ext cx="2613151" cy="369332"/>
          </a:xfrm>
          <a:prstGeom prst="rect">
            <a:avLst/>
          </a:prstGeom>
          <a:noFill/>
        </p:spPr>
        <p:txBody>
          <a:bodyPr wrap="none" rtlCol="0">
            <a:spAutoFit/>
          </a:bodyPr>
          <a:lstStyle/>
          <a:p>
            <a:pPr algn="ctr"/>
            <a:r>
              <a:rPr lang="en-US" dirty="0"/>
              <a:t>Average area: </a:t>
            </a:r>
            <a:r>
              <a:rPr lang="en-US" b="1" dirty="0"/>
              <a:t>195.8 in²</a:t>
            </a:r>
          </a:p>
        </p:txBody>
      </p:sp>
      <p:sp>
        <p:nvSpPr>
          <p:cNvPr id="12" name="Content Placeholder 8">
            <a:extLst>
              <a:ext uri="{FF2B5EF4-FFF2-40B4-BE49-F238E27FC236}">
                <a16:creationId xmlns:a16="http://schemas.microsoft.com/office/drawing/2014/main" id="{157E669F-9D4B-1112-A5C5-DA166DA3B794}"/>
              </a:ext>
            </a:extLst>
          </p:cNvPr>
          <p:cNvSpPr txBox="1">
            <a:spLocks/>
          </p:cNvSpPr>
          <p:nvPr/>
        </p:nvSpPr>
        <p:spPr>
          <a:xfrm>
            <a:off x="7144066" y="1738369"/>
            <a:ext cx="3916680" cy="44333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1" dirty="0"/>
              <a:t>Varied Beam:</a:t>
            </a:r>
          </a:p>
        </p:txBody>
      </p:sp>
      <p:sp>
        <p:nvSpPr>
          <p:cNvPr id="13" name="Content Placeholder 8">
            <a:extLst>
              <a:ext uri="{FF2B5EF4-FFF2-40B4-BE49-F238E27FC236}">
                <a16:creationId xmlns:a16="http://schemas.microsoft.com/office/drawing/2014/main" id="{EAD2561A-AC0E-6562-C722-E85556DA077C}"/>
              </a:ext>
            </a:extLst>
          </p:cNvPr>
          <p:cNvSpPr txBox="1">
            <a:spLocks/>
          </p:cNvSpPr>
          <p:nvPr/>
        </p:nvSpPr>
        <p:spPr>
          <a:xfrm>
            <a:off x="7278868" y="3629584"/>
            <a:ext cx="3916680" cy="44333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1" dirty="0"/>
              <a:t>Constant Beam:</a:t>
            </a:r>
          </a:p>
        </p:txBody>
      </p:sp>
      <p:sp>
        <p:nvSpPr>
          <p:cNvPr id="14" name="TextBox 13">
            <a:extLst>
              <a:ext uri="{FF2B5EF4-FFF2-40B4-BE49-F238E27FC236}">
                <a16:creationId xmlns:a16="http://schemas.microsoft.com/office/drawing/2014/main" id="{1F9D4B23-E059-52FF-5E9F-D16A879E9FCD}"/>
              </a:ext>
            </a:extLst>
          </p:cNvPr>
          <p:cNvSpPr txBox="1"/>
          <p:nvPr/>
        </p:nvSpPr>
        <p:spPr>
          <a:xfrm>
            <a:off x="8155854" y="4368248"/>
            <a:ext cx="2162708" cy="369332"/>
          </a:xfrm>
          <a:prstGeom prst="rect">
            <a:avLst/>
          </a:prstGeom>
          <a:noFill/>
        </p:spPr>
        <p:txBody>
          <a:bodyPr wrap="none" rtlCol="0">
            <a:spAutoFit/>
          </a:bodyPr>
          <a:lstStyle/>
          <a:p>
            <a:pPr algn="ctr"/>
            <a:r>
              <a:rPr lang="en-US" dirty="0"/>
              <a:t>Volume: </a:t>
            </a:r>
            <a:r>
              <a:rPr lang="en-US" b="1" dirty="0"/>
              <a:t>46,990 in³</a:t>
            </a:r>
          </a:p>
        </p:txBody>
      </p:sp>
      <p:sp>
        <p:nvSpPr>
          <p:cNvPr id="15" name="TextBox 14">
            <a:extLst>
              <a:ext uri="{FF2B5EF4-FFF2-40B4-BE49-F238E27FC236}">
                <a16:creationId xmlns:a16="http://schemas.microsoft.com/office/drawing/2014/main" id="{4680B76B-1295-0ADD-6992-7C1D4CE9CB02}"/>
              </a:ext>
            </a:extLst>
          </p:cNvPr>
          <p:cNvSpPr txBox="1"/>
          <p:nvPr/>
        </p:nvSpPr>
        <p:spPr>
          <a:xfrm>
            <a:off x="8203251" y="4707585"/>
            <a:ext cx="2047035" cy="369332"/>
          </a:xfrm>
          <a:prstGeom prst="rect">
            <a:avLst/>
          </a:prstGeom>
          <a:noFill/>
        </p:spPr>
        <p:txBody>
          <a:bodyPr wrap="none" rtlCol="0">
            <a:spAutoFit/>
          </a:bodyPr>
          <a:lstStyle/>
          <a:p>
            <a:pPr algn="ctr"/>
            <a:r>
              <a:rPr lang="en-US" dirty="0"/>
              <a:t>Weight: </a:t>
            </a:r>
            <a:r>
              <a:rPr lang="en-US" b="1" dirty="0"/>
              <a:t>13,340 lb</a:t>
            </a:r>
          </a:p>
        </p:txBody>
      </p:sp>
    </p:spTree>
    <p:extLst>
      <p:ext uri="{BB962C8B-B14F-4D97-AF65-F5344CB8AC3E}">
        <p14:creationId xmlns:p14="http://schemas.microsoft.com/office/powerpoint/2010/main" val="25476488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8972E-9FDC-A61A-37EA-3E3BE0626FD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8E373A1-4992-DEC7-8A0B-438455F2DBC5}"/>
              </a:ext>
            </a:extLst>
          </p:cNvPr>
          <p:cNvSpPr>
            <a:spLocks noGrp="1"/>
          </p:cNvSpPr>
          <p:nvPr>
            <p:ph type="title"/>
          </p:nvPr>
        </p:nvSpPr>
        <p:spPr>
          <a:xfrm>
            <a:off x="893064" y="72518"/>
            <a:ext cx="10405174" cy="1326514"/>
          </a:xfrm>
        </p:spPr>
        <p:txBody>
          <a:bodyPr/>
          <a:lstStyle/>
          <a:p>
            <a:r>
              <a:rPr lang="en-US" dirty="0"/>
              <a:t>varied beam</a:t>
            </a:r>
            <a:endParaRPr lang="en-ZA" dirty="0"/>
          </a:p>
        </p:txBody>
      </p:sp>
      <p:sp>
        <p:nvSpPr>
          <p:cNvPr id="3" name="Slide Number Placeholder 2">
            <a:extLst>
              <a:ext uri="{FF2B5EF4-FFF2-40B4-BE49-F238E27FC236}">
                <a16:creationId xmlns:a16="http://schemas.microsoft.com/office/drawing/2014/main" id="{0D8D7E06-7AA0-5728-3509-0681549E773A}"/>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33</a:t>
            </a:fld>
            <a:endParaRPr lang="en-US" dirty="0"/>
          </a:p>
        </p:txBody>
      </p:sp>
      <p:pic>
        <p:nvPicPr>
          <p:cNvPr id="5" name="Picture 4">
            <a:extLst>
              <a:ext uri="{FF2B5EF4-FFF2-40B4-BE49-F238E27FC236}">
                <a16:creationId xmlns:a16="http://schemas.microsoft.com/office/drawing/2014/main" id="{B971F10D-F029-46A5-AF11-FCAA6B8F7B69}"/>
              </a:ext>
            </a:extLst>
          </p:cNvPr>
          <p:cNvPicPr>
            <a:picLocks noChangeAspect="1"/>
          </p:cNvPicPr>
          <p:nvPr/>
        </p:nvPicPr>
        <p:blipFill>
          <a:blip r:embed="rId2"/>
          <a:stretch>
            <a:fillRect/>
          </a:stretch>
        </p:blipFill>
        <p:spPr>
          <a:xfrm>
            <a:off x="1228936" y="2197374"/>
            <a:ext cx="8993918" cy="4140529"/>
          </a:xfrm>
          <a:prstGeom prst="rect">
            <a:avLst/>
          </a:prstGeom>
        </p:spPr>
      </p:pic>
      <p:sp>
        <p:nvSpPr>
          <p:cNvPr id="6" name="Content Placeholder 8">
            <a:extLst>
              <a:ext uri="{FF2B5EF4-FFF2-40B4-BE49-F238E27FC236}">
                <a16:creationId xmlns:a16="http://schemas.microsoft.com/office/drawing/2014/main" id="{56DF6BF3-8352-DFF0-84F5-7FA3636F87DB}"/>
              </a:ext>
            </a:extLst>
          </p:cNvPr>
          <p:cNvSpPr txBox="1">
            <a:spLocks/>
          </p:cNvSpPr>
          <p:nvPr/>
        </p:nvSpPr>
        <p:spPr>
          <a:xfrm>
            <a:off x="1969146" y="1776819"/>
            <a:ext cx="7046838" cy="511836"/>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Beam dimension table (x step = 1 in)</a:t>
            </a:r>
          </a:p>
        </p:txBody>
      </p:sp>
    </p:spTree>
    <p:extLst>
      <p:ext uri="{BB962C8B-B14F-4D97-AF65-F5344CB8AC3E}">
        <p14:creationId xmlns:p14="http://schemas.microsoft.com/office/powerpoint/2010/main" val="1505760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BC3A5-3FB0-DB20-A160-0D6E5A8A93B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AFCBF10-4D51-0202-88A5-6852F0F818DD}"/>
              </a:ext>
            </a:extLst>
          </p:cNvPr>
          <p:cNvSpPr>
            <a:spLocks noGrp="1"/>
          </p:cNvSpPr>
          <p:nvPr>
            <p:ph type="title"/>
          </p:nvPr>
        </p:nvSpPr>
        <p:spPr>
          <a:xfrm>
            <a:off x="893064" y="72518"/>
            <a:ext cx="10405174" cy="1326514"/>
          </a:xfrm>
        </p:spPr>
        <p:txBody>
          <a:bodyPr/>
          <a:lstStyle/>
          <a:p>
            <a:r>
              <a:rPr lang="en-US" dirty="0"/>
              <a:t>varied beam</a:t>
            </a:r>
            <a:endParaRPr lang="en-ZA" dirty="0"/>
          </a:p>
        </p:txBody>
      </p:sp>
      <p:sp>
        <p:nvSpPr>
          <p:cNvPr id="3" name="Slide Number Placeholder 2">
            <a:extLst>
              <a:ext uri="{FF2B5EF4-FFF2-40B4-BE49-F238E27FC236}">
                <a16:creationId xmlns:a16="http://schemas.microsoft.com/office/drawing/2014/main" id="{429F4DA4-EA77-F8DA-4425-F02D8CA660C7}"/>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34</a:t>
            </a:fld>
            <a:endParaRPr lang="en-US" dirty="0"/>
          </a:p>
        </p:txBody>
      </p:sp>
      <p:pic>
        <p:nvPicPr>
          <p:cNvPr id="11" name="Picture 10">
            <a:extLst>
              <a:ext uri="{FF2B5EF4-FFF2-40B4-BE49-F238E27FC236}">
                <a16:creationId xmlns:a16="http://schemas.microsoft.com/office/drawing/2014/main" id="{FB09510A-47FF-9852-904A-CEBCBAAF9F21}"/>
              </a:ext>
            </a:extLst>
          </p:cNvPr>
          <p:cNvPicPr>
            <a:picLocks noChangeAspect="1"/>
          </p:cNvPicPr>
          <p:nvPr/>
        </p:nvPicPr>
        <p:blipFill>
          <a:blip r:embed="rId2"/>
          <a:stretch>
            <a:fillRect/>
          </a:stretch>
        </p:blipFill>
        <p:spPr>
          <a:xfrm>
            <a:off x="531327" y="2023737"/>
            <a:ext cx="7433097" cy="3415838"/>
          </a:xfrm>
          <a:prstGeom prst="rect">
            <a:avLst/>
          </a:prstGeom>
        </p:spPr>
      </p:pic>
      <p:sp>
        <p:nvSpPr>
          <p:cNvPr id="12" name="Content Placeholder 8">
            <a:extLst>
              <a:ext uri="{FF2B5EF4-FFF2-40B4-BE49-F238E27FC236}">
                <a16:creationId xmlns:a16="http://schemas.microsoft.com/office/drawing/2014/main" id="{EB2A8E4E-A98A-3511-0378-913EC07DDE22}"/>
              </a:ext>
            </a:extLst>
          </p:cNvPr>
          <p:cNvSpPr txBox="1">
            <a:spLocks/>
          </p:cNvSpPr>
          <p:nvPr/>
        </p:nvSpPr>
        <p:spPr>
          <a:xfrm>
            <a:off x="9012936" y="2185278"/>
            <a:ext cx="2462784" cy="309275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4pPr>
            <a:lvl5pPr marL="16002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This model serves as a visual approximation for the optimal varied beam size, with a step size of 12 in. Ideally, flanges of the beam would also connect.</a:t>
            </a:r>
          </a:p>
        </p:txBody>
      </p:sp>
    </p:spTree>
    <p:extLst>
      <p:ext uri="{BB962C8B-B14F-4D97-AF65-F5344CB8AC3E}">
        <p14:creationId xmlns:p14="http://schemas.microsoft.com/office/powerpoint/2010/main" val="808402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8D25-D403-2E2B-50DA-B21A0500AB0E}"/>
              </a:ext>
            </a:extLst>
          </p:cNvPr>
          <p:cNvSpPr>
            <a:spLocks noGrp="1"/>
          </p:cNvSpPr>
          <p:nvPr>
            <p:ph type="title"/>
          </p:nvPr>
        </p:nvSpPr>
        <p:spPr>
          <a:xfrm>
            <a:off x="911352" y="505016"/>
            <a:ext cx="5775656" cy="3284932"/>
          </a:xfrm>
        </p:spPr>
        <p:txBody>
          <a:bodyPr/>
          <a:lstStyle/>
          <a:p>
            <a:r>
              <a:rPr lang="en-US" dirty="0"/>
              <a:t>Thank you </a:t>
            </a:r>
          </a:p>
        </p:txBody>
      </p:sp>
      <p:sp>
        <p:nvSpPr>
          <p:cNvPr id="3" name="Text Placeholder 2">
            <a:extLst>
              <a:ext uri="{FF2B5EF4-FFF2-40B4-BE49-F238E27FC236}">
                <a16:creationId xmlns:a16="http://schemas.microsoft.com/office/drawing/2014/main" id="{1EC6DB3D-3AE2-9478-3245-FE2F98B96EC7}"/>
              </a:ext>
            </a:extLst>
          </p:cNvPr>
          <p:cNvSpPr>
            <a:spLocks noGrp="1"/>
          </p:cNvSpPr>
          <p:nvPr>
            <p:ph type="body" sz="quarter" idx="13"/>
          </p:nvPr>
        </p:nvSpPr>
        <p:spPr>
          <a:xfrm>
            <a:off x="911353" y="4006024"/>
            <a:ext cx="5794248" cy="2346960"/>
          </a:xfrm>
        </p:spPr>
        <p:txBody>
          <a:bodyPr/>
          <a:lstStyle/>
          <a:p>
            <a:r>
              <a:rPr lang="en-US" dirty="0"/>
              <a:t>Aidan Crawford</a:t>
            </a:r>
          </a:p>
          <a:p>
            <a:r>
              <a:rPr lang="en-US" dirty="0"/>
              <a:t>EGR-228</a:t>
            </a:r>
          </a:p>
          <a:p>
            <a:r>
              <a:rPr lang="en-US" dirty="0"/>
              <a:t>12/11/2025</a:t>
            </a:r>
          </a:p>
        </p:txBody>
      </p:sp>
    </p:spTree>
    <p:extLst>
      <p:ext uri="{BB962C8B-B14F-4D97-AF65-F5344CB8AC3E}">
        <p14:creationId xmlns:p14="http://schemas.microsoft.com/office/powerpoint/2010/main" val="3493061142"/>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369fe98-fd5e-48d1-9012-6ec0399c242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99E9382B05C8C419F6B382D7945687C" ma:contentTypeVersion="11" ma:contentTypeDescription="Create a new document." ma:contentTypeScope="" ma:versionID="18f623499d883ae5671ece7ba51a7529">
  <xsd:schema xmlns:xsd="http://www.w3.org/2001/XMLSchema" xmlns:xs="http://www.w3.org/2001/XMLSchema" xmlns:p="http://schemas.microsoft.com/office/2006/metadata/properties" xmlns:ns3="a369fe98-fd5e-48d1-9012-6ec0399c2421" targetNamespace="http://schemas.microsoft.com/office/2006/metadata/properties" ma:root="true" ma:fieldsID="d5f7560c34ea146686b63e0934eaa183" ns3:_="">
    <xsd:import namespace="a369fe98-fd5e-48d1-9012-6ec0399c242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Location"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69fe98-fd5e-48d1-9012-6ec0399c242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Location" ma:index="15" nillable="true" ma:displayName="Location" ma:indexed="true"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2.xml><?xml version="1.0" encoding="utf-8"?>
<ds:datastoreItem xmlns:ds="http://schemas.openxmlformats.org/officeDocument/2006/customXml" ds:itemID="{AC5040CA-20CC-43C6-BC0C-8D8696B6AF89}">
  <ds:schemaRefs>
    <ds:schemaRef ds:uri="http://schemas.openxmlformats.org/package/2006/metadata/core-properties"/>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http://purl.org/dc/terms/"/>
    <ds:schemaRef ds:uri="http://purl.org/dc/elements/1.1/"/>
    <ds:schemaRef ds:uri="a369fe98-fd5e-48d1-9012-6ec0399c2421"/>
    <ds:schemaRef ds:uri="http://purl.org/dc/dcmitype/"/>
  </ds:schemaRefs>
</ds:datastoreItem>
</file>

<file path=customXml/itemProps3.xml><?xml version="1.0" encoding="utf-8"?>
<ds:datastoreItem xmlns:ds="http://schemas.openxmlformats.org/officeDocument/2006/customXml" ds:itemID="{359B98D9-48B4-4D21-A28A-93A71BFBEB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69fe98-fd5e-48d1-9012-6ec0399c24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{9072D96C-C18C-4F3D-8C27-3F6C6ABB4BCA}TFb05bf529-a1dc-42d5-b9d6-8a1e9569dd9caf6e7d0f_win32-c3c9796a48f5</Template>
  <TotalTime>485</TotalTime>
  <Words>1605</Words>
  <Application>Microsoft Office PowerPoint</Application>
  <PresentationFormat>Widescreen</PresentationFormat>
  <Paragraphs>185</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Avenir Next LT Pro Light</vt:lpstr>
      <vt:lpstr>Calibri</vt:lpstr>
      <vt:lpstr>Posterama</vt:lpstr>
      <vt:lpstr>Custom</vt:lpstr>
      <vt:lpstr>EGR-228 Final project</vt:lpstr>
      <vt:lpstr>Agenda </vt:lpstr>
      <vt:lpstr>Free body diagram</vt:lpstr>
      <vt:lpstr>Shear diagram</vt:lpstr>
      <vt:lpstr>Moment diagram</vt:lpstr>
      <vt:lpstr>Design considerations</vt:lpstr>
      <vt:lpstr>Design requirements</vt:lpstr>
      <vt:lpstr>Solid constant beam shape</vt:lpstr>
      <vt:lpstr>Solid constant beam shape</vt:lpstr>
      <vt:lpstr>Ultimate solid-constant beam design</vt:lpstr>
      <vt:lpstr>Stress calculations</vt:lpstr>
      <vt:lpstr>Stress calculations</vt:lpstr>
      <vt:lpstr>Stress calculations</vt:lpstr>
      <vt:lpstr>Stress calculations</vt:lpstr>
      <vt:lpstr>Stress calculations</vt:lpstr>
      <vt:lpstr>optimization</vt:lpstr>
      <vt:lpstr>optimization</vt:lpstr>
      <vt:lpstr>optimization</vt:lpstr>
      <vt:lpstr>Solid-constant beam</vt:lpstr>
      <vt:lpstr>Hollow constant beam</vt:lpstr>
      <vt:lpstr>hollow-constant beam</vt:lpstr>
      <vt:lpstr>varied beam</vt:lpstr>
      <vt:lpstr>varied beam</vt:lpstr>
      <vt:lpstr>varied beam</vt:lpstr>
      <vt:lpstr>varied beam</vt:lpstr>
      <vt:lpstr>varied beam</vt:lpstr>
      <vt:lpstr>varied beam</vt:lpstr>
      <vt:lpstr>varied beam</vt:lpstr>
      <vt:lpstr>varied beam (Section 1, section 2)</vt:lpstr>
      <vt:lpstr>varied beam (section 3, section 4)</vt:lpstr>
      <vt:lpstr>varied beam (section 5)</vt:lpstr>
      <vt:lpstr>varied beam Summary</vt:lpstr>
      <vt:lpstr>varied beam</vt:lpstr>
      <vt:lpstr>varied beam</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Aidan Crawford</dc:creator>
  <cp:lastModifiedBy>Aidan Crawford</cp:lastModifiedBy>
  <cp:revision>14</cp:revision>
  <dcterms:created xsi:type="dcterms:W3CDTF">2025-12-11T04:02:44Z</dcterms:created>
  <dcterms:modified xsi:type="dcterms:W3CDTF">2026-07-11T20:29:29Z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0x010100999E9382B05C8C419F6B382D7945687C</vt:lpwstr>
  </property>
</Properties>
</file>